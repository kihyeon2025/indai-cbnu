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7" r:id="rId1"/>
  </p:sldMasterIdLst>
  <p:notesMasterIdLst>
    <p:notesMasterId r:id="rId2"/>
  </p:notesMasterIdLst>
  <p:sldIdLst>
    <p:sldId id="256" r:id="rId3"/>
    <p:sldId id="298" r:id="rId4"/>
    <p:sldId id="257" r:id="rId5"/>
    <p:sldId id="258" r:id="rId6"/>
    <p:sldId id="299" r:id="rId7"/>
    <p:sldId id="300" r:id="rId8"/>
    <p:sldId id="301" r:id="rId9"/>
    <p:sldId id="302" r:id="rId10"/>
    <p:sldId id="306" r:id="rId11"/>
    <p:sldId id="307" r:id="rId12"/>
    <p:sldId id="308" r:id="rId13"/>
    <p:sldId id="312" r:id="rId14"/>
    <p:sldId id="313" r:id="rId15"/>
    <p:sldId id="339" r:id="rId16"/>
    <p:sldId id="317" r:id="rId17"/>
    <p:sldId id="341" r:id="rId18"/>
    <p:sldId id="340" r:id="rId19"/>
    <p:sldId id="321" r:id="rId20"/>
    <p:sldId id="342" r:id="rId21"/>
    <p:sldId id="322" r:id="rId22"/>
    <p:sldId id="323" r:id="rId23"/>
    <p:sldId id="343" r:id="rId24"/>
    <p:sldId id="324" r:id="rId25"/>
    <p:sldId id="325" r:id="rId26"/>
    <p:sldId id="328" r:id="rId27"/>
    <p:sldId id="326" r:id="rId28"/>
    <p:sldId id="327" r:id="rId29"/>
    <p:sldId id="329" r:id="rId30"/>
    <p:sldId id="331" r:id="rId31"/>
    <p:sldId id="332" r:id="rId32"/>
    <p:sldId id="333" r:id="rId33"/>
    <p:sldId id="334" r:id="rId34"/>
    <p:sldId id="335" r:id="rId35"/>
    <p:sldId id="336" r:id="rId36"/>
    <p:sldId id="338" r:id="rId37"/>
    <p:sldId id="344" r:id="rId38"/>
    <p:sldId id="282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95" autoAdjust="0"/>
    <p:restoredTop sz="77494"/>
  </p:normalViewPr>
  <p:slideViewPr>
    <p:cSldViewPr snapToGrid="0">
      <p:cViewPr varScale="1">
        <p:scale>
          <a:sx n="100" d="100"/>
          <a:sy n="100" d="100"/>
        </p:scale>
        <p:origin x="990" y="72"/>
      </p:cViewPr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4002" y="84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presProps" Target="presProps.xml"  /><Relationship Id="rId41" Type="http://schemas.openxmlformats.org/officeDocument/2006/relationships/viewProps" Target="viewProps.xml"  /><Relationship Id="rId42" Type="http://schemas.openxmlformats.org/officeDocument/2006/relationships/theme" Target="theme/theme1.xml"  /><Relationship Id="rId43" Type="http://schemas.openxmlformats.org/officeDocument/2006/relationships/tableStyles" Target="tableStyles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C4D1F7C7-BC5A-4136-AB76-4446B2000B13}" type="datetime1">
              <a:rPr lang="ko-KR" altLang="en-US"/>
              <a:pPr lvl="0">
                <a:defRPr/>
              </a:pPr>
              <a:t>2025-12-18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30348489-0E78-40CE-89CF-51B6E89253F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임야 비율이 줄어들수록 농경지·대지·공장용지 비율이 늘어나는 경향이 강하다.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그리고 농경지 ↔ (대지/공장) 은 같은 편인 경우가 많다.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3) 칸별로 “해석” (가장 중요한 것들)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✅ 임야 비율 vs 농경지 비율: r = -0.95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엄청 강한 음의 상관관계(거의 반대편 끝)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의미: 임야 비율이 커지면 농경지 비율은 거의 반드시 작아짐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현실적 해석: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산이 많은 지역은 경작지가 적고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경작지 많은 지역은 임야 비중이 낮아지는 구조가 강하게 존재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ML 관점: 두 변수는 서로 정보가 겹치는(중복되는) 강한 반대 신호예요.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✅ 임야 비율 vs 대지 비율: r = -0.86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임야가 늘면 대지는 줄고, 대지가 늘면 임야는 줄어듦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즉, **도시화/개발(대지 증가)**는 임야 감소와 강하게 연결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✅ 임야 비율 vs 공장용지 비율: r = -0.88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산업화(공장용지 비율 증가)도 임야 감소와 강하게 묶임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“산업단지 확장” 같은 변화가 있으면 숲 비중이 줄어드는 방향으로 같이 움직였을 가능성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✅ 농경지 비율 vs 공장용지 비율: r = 0.84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꽤 강한 양의 상관관계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의미: 농경지 비율이 높은 곳일수록 공장용지 비율도 같이 높은 경향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여기서 많은 사람이 “어? 농지 줄고 공장 늘어야 하는 거 아냐?”라고 생각하는데, 비율 데이터에서는 이런 현상이 충분히 나옵니다.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가능한 해석(중요):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어떤 지역은 전체 면적 구성에서 임야가 줄어들면서, 그 자리를 농경지와 공장용지가 함께 차지하는 구조일 수 있어요.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또는 “농업지역 기반 평야”에 산단이 들어서기 좋은 입지가 겹치는 경우도 많습니다.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ML 관점: “농경지”는 여기서 단순히 ‘전통 농업’ 신호가 아니라, **지형/입지(평지, 접근성)**의 대리변수(proxy)로 작동했을 수 있어요.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✅ 대지 비율 vs 농경지 비율: r = 0.73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✅ 대지 비율 vs 공장용지 비율: r = 0.71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둘 다 중간 이상 양의 상관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즉, **도시화(대지)**와 **산업화(공장용지)**는 대체로 같은 방향으로 움직이는 경향</a:t>
            </a: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endParaRPr sz="900" b="1">
              <a:latin typeface="나눔고딕"/>
              <a:ea typeface="나눔고딕"/>
            </a:endParaRPr>
          </a:p>
          <a:p>
            <a:pPr>
              <a:defRPr/>
            </a:pPr>
            <a:r>
              <a:rPr sz="900" b="1">
                <a:latin typeface="나눔고딕"/>
                <a:ea typeface="나눔고딕"/>
              </a:rPr>
              <a:t>농경지도 이들과 “같은 편”에 서 있는 모습</a:t>
            </a:r>
            <a:endParaRPr lang="ko-KR" altLang="en-US" sz="90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30348489-0E78-40CE-89CF-51B6E89253FD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FCA8C3-4B64-35E8-4706-A6EDE08BE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7955B2-F269-4941-DCF0-940C54763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5EA9BF-FE0F-3C9D-3C07-D9484C47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2CB9-025A-4A9B-89EF-69818D0FE89B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8CEBA3-408D-888B-F13C-AA5F3D39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2238A9-F6BC-A93E-A195-BBD6176E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F37B-D94E-4FE6-85D5-825E35EE50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881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3A168-C7D4-5F6E-0ABC-0821DA601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74DBD7-4288-C8F2-D09E-0D44E4EA3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690797-A546-EF55-41F0-778B4826C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2CB9-025A-4A9B-89EF-69818D0FE89B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FA17C4-5F91-96C9-D1E5-EB357E819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29A94F-F67E-8930-97E4-DFD860283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F37B-D94E-4FE6-85D5-825E35EE50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4926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A8B8A-6833-5F16-B15F-460E0944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64FF66-2241-0AE8-C9A5-D29AA4E58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E18D02-E1DD-FDD2-7DCE-75EC68D36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2CB9-025A-4A9B-89EF-69818D0FE89B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1C0045-8D5B-13B0-78A6-7D4DA48BB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A47232-6403-D571-2076-523CCCA59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F37B-D94E-4FE6-85D5-825E35EE50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5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621B50-A8D4-5D2C-F179-46CC4852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C6B191-C937-117D-9C7A-8E137602C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7E17DF-400E-3CD8-3AFB-3D7DDA84B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AEA989-E65C-408A-E936-35C34C9F0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2CB9-025A-4A9B-89EF-69818D0FE89B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524C0C-25D5-5E8E-5932-CB0B72071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4785AA-5972-15E4-5A37-CF407289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F37B-D94E-4FE6-85D5-825E35EE50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519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7E33E-B3BD-4398-F520-5E761335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A1DDC3-6912-E78B-6446-7B5A40CF7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7E3E8A-0881-BED3-B1D7-699710EE3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C4B20E-1292-EEDB-A9C6-E9236A554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9420DA-B0B4-50BB-91A7-EA452E774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398A5B-3497-2890-771D-771564234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2CB9-025A-4A9B-89EF-69818D0FE89B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AF3581-4C10-5A75-49C2-0C9020E5F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E486BB-A058-D952-8AAC-CFCEA960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F37B-D94E-4FE6-85D5-825E35EE50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9970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0F470-F97E-A533-8F74-2207CD9A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04C569-EEE3-C8EF-E731-C0937D94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2CB9-025A-4A9B-89EF-69818D0FE89B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ECCB60-03FD-7933-A6A8-E1CDE7BF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C5D9D6-7FAF-4B2F-D078-FE702E0C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F37B-D94E-4FE6-85D5-825E35EE50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3269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F0E60D-9BB5-93EC-B6BD-F294762E2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2CB9-025A-4A9B-89EF-69818D0FE89B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E2EE3D-F5B4-0F41-F84E-6E01B3331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908B8A-C050-985C-EE16-4C10FACCE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F37B-D94E-4FE6-85D5-825E35EE50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53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7A9B-62A9-454D-74E3-A3D3CE9B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F78BA0-40C8-33C7-0BE7-8C9B71617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4E2C73-4F0A-088E-D3EF-A76F0F86F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5069DA-27CE-6AE0-5C83-BF56F3C7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2CB9-025A-4A9B-89EF-69818D0FE89B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FDD367-ECFE-6E7B-6160-D41CD8DE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BB414D-2220-8398-A982-51C6E3ED3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F37B-D94E-4FE6-85D5-825E35EE50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9732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1E81E-BAF2-93E0-527E-D5989BDE0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FDBB26-5D4C-77B6-D096-9CBE637E8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C65E87-E190-8D75-48F2-3B1C79308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8646D2-7CFB-6070-3988-B7B348A77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2CB9-025A-4A9B-89EF-69818D0FE89B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FC3959-AFC2-FE73-EB46-E0E8D027C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DD69F1-964C-2105-207C-40515AE8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F37B-D94E-4FE6-85D5-825E35EE50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6815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894325-6BEB-62B4-8568-DC0995EC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59E5D3-A243-35D6-EFCD-28EEE7316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7B498E-8C2E-E818-3B85-25AE5A28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2CB9-025A-4A9B-89EF-69818D0FE89B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C94094-7591-2B91-774D-C5CC12523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DE3FBE-DCA9-8C2E-52C2-A8A34E0D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F37B-D94E-4FE6-85D5-825E35EE50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065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1578B6-5F26-2967-1D7F-DAE975420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B90785-D9FE-C176-7F16-42666080B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B708D7-A71A-46C6-6B21-B994F40F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F2CB9-025A-4A9B-89EF-69818D0FE89B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5349-2569-C318-6D29-2B2168C0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59B869-9C94-839F-D383-DD2BB183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F37B-D94E-4FE6-85D5-825E35EE50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6373394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D4A6D9-3CBC-6F0E-CFE2-44D6C902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E7F465-949D-659B-2DFC-3BEF8625D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F4450C-08ED-3203-FD80-46535E8AE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F2CB9-025A-4A9B-89EF-69818D0FE89B}" type="datetimeFigureOut">
              <a:rPr lang="ko-KR" altLang="en-US" smtClean="0"/>
              <a:t>2025-12-18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876041-0AF5-AAAA-20AE-CAECA8062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70BC57-E1A9-0F80-2F65-E10EBC7A4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0F37B-D94E-4FE6-85D5-825E35EE50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153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Relationship Id="rId3" Type="http://schemas.openxmlformats.org/officeDocument/2006/relationships/image" Target="../media/image2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Relationship Id="rId3" Type="http://schemas.openxmlformats.org/officeDocument/2006/relationships/image" Target="../media/image25.png"  /><Relationship Id="rId4" Type="http://schemas.openxmlformats.org/officeDocument/2006/relationships/image" Target="../media/image2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27.png"  /><Relationship Id="rId4" Type="http://schemas.openxmlformats.org/officeDocument/2006/relationships/image" Target="../media/image28.png"  /><Relationship Id="rId5" Type="http://schemas.openxmlformats.org/officeDocument/2006/relationships/image" Target="../media/image24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9.png"  /><Relationship Id="rId3" Type="http://schemas.openxmlformats.org/officeDocument/2006/relationships/image" Target="../media/image30.png"  /><Relationship Id="rId4" Type="http://schemas.openxmlformats.org/officeDocument/2006/relationships/image" Target="../media/image31.png"  /><Relationship Id="rId5" Type="http://schemas.openxmlformats.org/officeDocument/2006/relationships/image" Target="../media/image28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4.png"  /><Relationship Id="rId3" Type="http://schemas.openxmlformats.org/officeDocument/2006/relationships/image" Target="../media/image35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6.png"  /><Relationship Id="rId3" Type="http://schemas.openxmlformats.org/officeDocument/2006/relationships/image" Target="../media/image37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8.png"  /><Relationship Id="rId3" Type="http://schemas.openxmlformats.org/officeDocument/2006/relationships/image" Target="../media/image39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0.png"  /><Relationship Id="rId3" Type="http://schemas.openxmlformats.org/officeDocument/2006/relationships/image" Target="../media/image41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2.png"  /><Relationship Id="rId3" Type="http://schemas.openxmlformats.org/officeDocument/2006/relationships/image" Target="../media/image43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4.png"  /><Relationship Id="rId3" Type="http://schemas.openxmlformats.org/officeDocument/2006/relationships/image" Target="../media/image45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6.png"  /><Relationship Id="rId3" Type="http://schemas.openxmlformats.org/officeDocument/2006/relationships/image" Target="../media/image47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8.png"  /><Relationship Id="rId3" Type="http://schemas.openxmlformats.org/officeDocument/2006/relationships/image" Target="../media/image49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0.png"  /><Relationship Id="rId3" Type="http://schemas.openxmlformats.org/officeDocument/2006/relationships/image" Target="../media/image51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2.png"  /><Relationship Id="rId3" Type="http://schemas.openxmlformats.org/officeDocument/2006/relationships/image" Target="../media/image53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4.png"  /><Relationship Id="rId3" Type="http://schemas.openxmlformats.org/officeDocument/2006/relationships/image" Target="../media/image55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6.png"  /><Relationship Id="rId3" Type="http://schemas.openxmlformats.org/officeDocument/2006/relationships/image" Target="../media/image57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8.png"  /><Relationship Id="rId3" Type="http://schemas.openxmlformats.org/officeDocument/2006/relationships/image" Target="../media/image59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0.png"  /><Relationship Id="rId3" Type="http://schemas.openxmlformats.org/officeDocument/2006/relationships/image" Target="../media/image61.png"  /><Relationship Id="rId4" Type="http://schemas.openxmlformats.org/officeDocument/2006/relationships/image" Target="../media/image62.png"  /><Relationship Id="rId5" Type="http://schemas.openxmlformats.org/officeDocument/2006/relationships/image" Target="../media/image63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4.png"  /><Relationship Id="rId3" Type="http://schemas.openxmlformats.org/officeDocument/2006/relationships/image" Target="../media/image65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6914F-B541-8A7F-9FA4-513CDEC9A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603" y="1090052"/>
            <a:ext cx="7010897" cy="2387600"/>
          </a:xfrm>
        </p:spPr>
        <p:txBody>
          <a:bodyPr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4800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충청북도 토지 이용 분석</a:t>
            </a:r>
            <a:br>
              <a:rPr lang="en-US" altLang="ko-KR" sz="4800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</a:br>
            <a:r>
              <a:rPr lang="ko-KR" altLang="en-US" sz="32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지적통계 기반 공간 특성 분석</a:t>
            </a:r>
            <a:endParaRPr lang="ko-KR" altLang="en-US" sz="4800" b="1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244A18-9BFB-87F5-D94D-EBFE5F974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9603" y="4694772"/>
            <a:ext cx="5351646" cy="1475072"/>
          </a:xfrm>
        </p:spPr>
        <p:txBody>
          <a:bodyPr anchor="ctr">
            <a:normAutofit/>
          </a:bodyPr>
          <a:lstStyle/>
          <a:p>
            <a:pPr algn="l"/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팀명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: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테라마인드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algn="l"/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팀원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: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이일주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남기현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박성혁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이소현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algn="l"/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발표일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: 2025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 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12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월 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19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일</a:t>
            </a:r>
          </a:p>
        </p:txBody>
      </p:sp>
      <p:pic>
        <p:nvPicPr>
          <p:cNvPr id="5" name="그림 4" descr="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1FE331-B1DE-9E03-2A13-7D93037ABC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99" r="12427"/>
          <a:stretch>
            <a:fillRect/>
          </a:stretch>
        </p:blipFill>
        <p:spPr>
          <a:xfrm>
            <a:off x="5992586" y="1090052"/>
            <a:ext cx="6023428" cy="533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47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22314-3387-6922-0326-E04489826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25564-3624-32A9-15E8-C33A946B5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755" y="327012"/>
            <a:ext cx="1727697" cy="1361048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4800" spc="300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목차</a:t>
            </a:r>
            <a:endParaRPr lang="ko-KR" altLang="en-US" sz="4800" b="1" spc="3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261F43-42BE-44B0-AA9F-F8983556F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8209" y="560671"/>
            <a:ext cx="3539100" cy="5736657"/>
          </a:xfrm>
        </p:spPr>
        <p:txBody>
          <a:bodyPr anchor="ctr">
            <a:normAutofit/>
          </a:bodyPr>
          <a:lstStyle/>
          <a:p>
            <a:pPr algn="l">
              <a:lnSpc>
                <a:spcPct val="200000"/>
              </a:lnSpc>
            </a:pPr>
            <a:r>
              <a:rPr lang="en-US" altLang="ko-KR" sz="4000" dirty="0">
                <a:solidFill>
                  <a:srgbClr val="6E9A74"/>
                </a:solidFill>
                <a:latin typeface="KBO 다이아고딕 Bold" pitchFamily="2" charset="-127"/>
                <a:ea typeface="KBO 다이아고딕 Bold" pitchFamily="2" charset="-127"/>
              </a:rPr>
              <a:t>01</a:t>
            </a:r>
            <a:r>
              <a:rPr lang="en-US" altLang="ko-KR" sz="2800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  </a:t>
            </a:r>
            <a:r>
              <a:rPr lang="ko-KR" altLang="en-US" sz="28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프로젝트 배경</a:t>
            </a:r>
            <a:endParaRPr lang="en-US" altLang="ko-KR" sz="2800" b="1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4000" dirty="0">
                <a:solidFill>
                  <a:srgbClr val="6E9A74"/>
                </a:solidFill>
                <a:latin typeface="KBO 다이아고딕 Bold" pitchFamily="2" charset="-127"/>
                <a:ea typeface="KBO 다이아고딕 Bold" pitchFamily="2" charset="-127"/>
              </a:rPr>
              <a:t>02</a:t>
            </a:r>
            <a:r>
              <a:rPr lang="en-US" altLang="ko-KR" sz="2800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  </a:t>
            </a:r>
            <a:r>
              <a:rPr lang="ko-KR" altLang="en-US" sz="28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데이터 수집</a:t>
            </a:r>
            <a:endParaRPr lang="en-US" altLang="ko-KR" sz="2800" b="1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4000" dirty="0">
                <a:solidFill>
                  <a:srgbClr val="6E9A74"/>
                </a:solidFill>
                <a:latin typeface="KBO 다이아고딕 Bold" pitchFamily="2" charset="-127"/>
                <a:ea typeface="KBO 다이아고딕 Bold" pitchFamily="2" charset="-127"/>
              </a:rPr>
              <a:t>03</a:t>
            </a:r>
            <a:r>
              <a:rPr lang="en-US" altLang="ko-KR" sz="2800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  </a:t>
            </a:r>
            <a:r>
              <a:rPr lang="ko-KR" altLang="en-US" sz="28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데이터 분석</a:t>
            </a:r>
            <a:endParaRPr lang="en-US" altLang="ko-KR" sz="2800" b="1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4000" dirty="0">
                <a:solidFill>
                  <a:srgbClr val="6E9A74"/>
                </a:solidFill>
                <a:latin typeface="KBO 다이아고딕 Bold" pitchFamily="2" charset="-127"/>
                <a:ea typeface="KBO 다이아고딕 Bold" pitchFamily="2" charset="-127"/>
              </a:rPr>
              <a:t>04</a:t>
            </a:r>
            <a:r>
              <a:rPr lang="en-US" altLang="ko-KR" sz="2800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  </a:t>
            </a:r>
            <a:r>
              <a:rPr lang="ko-KR" altLang="en-US" sz="28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데이터 전처리</a:t>
            </a:r>
            <a:endParaRPr lang="en-US" altLang="ko-KR" sz="2800" b="1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BD9DC7C-D504-9DB4-9BFF-53F829371CFF}"/>
              </a:ext>
            </a:extLst>
          </p:cNvPr>
          <p:cNvCxnSpPr>
            <a:cxnSpLocks/>
          </p:cNvCxnSpPr>
          <p:nvPr/>
        </p:nvCxnSpPr>
        <p:spPr>
          <a:xfrm>
            <a:off x="814071" y="1489075"/>
            <a:ext cx="1423064" cy="0"/>
          </a:xfrm>
          <a:prstGeom prst="line">
            <a:avLst/>
          </a:prstGeom>
          <a:ln w="57150">
            <a:solidFill>
              <a:srgbClr val="97B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부제목 2">
            <a:extLst>
              <a:ext uri="{FF2B5EF4-FFF2-40B4-BE49-F238E27FC236}">
                <a16:creationId xmlns:a16="http://schemas.microsoft.com/office/drawing/2014/main" id="{05096BA5-09FE-6B3A-DF96-CD104D459925}"/>
              </a:ext>
            </a:extLst>
          </p:cNvPr>
          <p:cNvSpPr txBox="1">
            <a:spLocks/>
          </p:cNvSpPr>
          <p:nvPr/>
        </p:nvSpPr>
        <p:spPr>
          <a:xfrm>
            <a:off x="7695104" y="560671"/>
            <a:ext cx="3539099" cy="5736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en-US" altLang="ko-KR" sz="4000" dirty="0">
                <a:solidFill>
                  <a:srgbClr val="6E9A74"/>
                </a:solidFill>
                <a:latin typeface="KBO 다이아고딕 Bold" pitchFamily="2" charset="-127"/>
                <a:ea typeface="KBO 다이아고딕 Bold" pitchFamily="2" charset="-127"/>
              </a:rPr>
              <a:t>05</a:t>
            </a:r>
            <a:r>
              <a:rPr lang="en-US" altLang="ko-KR" sz="2800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  </a:t>
            </a:r>
            <a:r>
              <a:rPr lang="ko-KR" altLang="en-US" sz="28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군집화 분석</a:t>
            </a:r>
            <a:endParaRPr lang="en-US" altLang="ko-KR" sz="2800" b="1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4000" dirty="0">
                <a:solidFill>
                  <a:srgbClr val="6E9A74"/>
                </a:solidFill>
                <a:latin typeface="KBO 다이아고딕 Bold" pitchFamily="2" charset="-127"/>
                <a:ea typeface="KBO 다이아고딕 Bold" pitchFamily="2" charset="-127"/>
              </a:rPr>
              <a:t>06</a:t>
            </a:r>
            <a:r>
              <a:rPr lang="en-US" altLang="ko-KR" sz="2800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  </a:t>
            </a:r>
            <a:r>
              <a:rPr lang="ko-KR" altLang="en-US" sz="28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 특성 해석</a:t>
            </a:r>
            <a:endParaRPr lang="en-US" altLang="ko-KR" sz="2800" b="1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4000" dirty="0">
                <a:solidFill>
                  <a:srgbClr val="6E9A74"/>
                </a:solidFill>
                <a:latin typeface="KBO 다이아고딕 Bold" pitchFamily="2" charset="-127"/>
                <a:ea typeface="KBO 다이아고딕 Bold" pitchFamily="2" charset="-127"/>
              </a:rPr>
              <a:t>07</a:t>
            </a:r>
            <a:r>
              <a:rPr lang="en-US" altLang="ko-KR" sz="2800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  </a:t>
            </a:r>
            <a:r>
              <a:rPr lang="ko-KR" altLang="en-US" sz="28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최종 군집 결과</a:t>
            </a:r>
            <a:endParaRPr lang="en-US" altLang="ko-KR" sz="2800" b="1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4000" dirty="0">
                <a:solidFill>
                  <a:srgbClr val="6E9A74"/>
                </a:solidFill>
                <a:latin typeface="KBO 다이아고딕 Bold" pitchFamily="2" charset="-127"/>
                <a:ea typeface="KBO 다이아고딕 Bold" pitchFamily="2" charset="-127"/>
              </a:rPr>
              <a:t>08</a:t>
            </a:r>
            <a:r>
              <a:rPr lang="en-US" altLang="ko-KR" sz="2800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  </a:t>
            </a:r>
            <a:r>
              <a:rPr lang="ko-KR" altLang="en-US" sz="28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결론</a:t>
            </a:r>
            <a:endParaRPr lang="en-US" altLang="ko-KR" sz="2800" b="1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3667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70466E1-E481-1230-6360-D74E2909ACCA}"/>
              </a:ext>
            </a:extLst>
          </p:cNvPr>
          <p:cNvSpPr/>
          <p:nvPr/>
        </p:nvSpPr>
        <p:spPr>
          <a:xfrm>
            <a:off x="520700" y="1870659"/>
            <a:ext cx="3505200" cy="4305300"/>
          </a:xfrm>
          <a:prstGeom prst="roundRect">
            <a:avLst>
              <a:gd name="adj" fmla="val 8153"/>
            </a:avLst>
          </a:prstGeom>
          <a:solidFill>
            <a:srgbClr val="FEFDFC"/>
          </a:solidFill>
          <a:ln w="57150">
            <a:solidFill>
              <a:srgbClr val="3F59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559F40E-A728-A2EF-9ADC-08E4DAF1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01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프로젝트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9F620-E48E-6CDB-C1B8-02F016855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191" y="2341837"/>
            <a:ext cx="3132218" cy="307901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충청북도는 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</a:rPr>
              <a:t>산림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과 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</a:rPr>
              <a:t>농경지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가 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전체 면적의 </a:t>
            </a:r>
            <a:r>
              <a:rPr lang="en-US" altLang="ko-KR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</a:rPr>
              <a:t>83% 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</a:rPr>
              <a:t>이상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을 차지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대지와 공장용지 등 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</a:rPr>
              <a:t>도시</a:t>
            </a:r>
            <a:r>
              <a:rPr lang="en-US" altLang="ko-KR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 ·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산업</a:t>
            </a:r>
            <a:endParaRPr lang="en-US" altLang="ko-KR" sz="1800" dirty="0">
              <a:solidFill>
                <a:srgbClr val="D14811"/>
              </a:solidFill>
              <a:latin typeface="KBO 다이아고딕 Medium" pitchFamily="2" charset="-127"/>
              <a:ea typeface="KBO 다이아고딕 Medium" pitchFamily="2" charset="-127"/>
              <a:cs typeface="Noto Sans KR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 용지 비중은 </a:t>
            </a:r>
            <a:r>
              <a:rPr lang="en-US" altLang="ko-KR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4% 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내외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로 제한적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5B4AD65-695E-B9B5-CF85-007510D8E098}"/>
              </a:ext>
            </a:extLst>
          </p:cNvPr>
          <p:cNvSpPr/>
          <p:nvPr/>
        </p:nvSpPr>
        <p:spPr>
          <a:xfrm>
            <a:off x="814905" y="1559801"/>
            <a:ext cx="2916790" cy="621716"/>
          </a:xfrm>
          <a:prstGeom prst="roundRect">
            <a:avLst/>
          </a:prstGeom>
          <a:solidFill>
            <a:srgbClr val="3F59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 dirty="0">
                <a:solidFill>
                  <a:srgbClr val="FAF8F4"/>
                </a:solidFill>
                <a:latin typeface="KBO 다이아고딕 Bold" pitchFamily="2" charset="-127"/>
                <a:ea typeface="KBO 다이아고딕 Bold" pitchFamily="2" charset="-127"/>
              </a:rPr>
              <a:t>충북 토지 구성 특성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E1F5870-DABB-77F7-7BEC-1534BE78B4B7}"/>
              </a:ext>
            </a:extLst>
          </p:cNvPr>
          <p:cNvSpPr/>
          <p:nvPr/>
        </p:nvSpPr>
        <p:spPr>
          <a:xfrm>
            <a:off x="4345269" y="1870659"/>
            <a:ext cx="3505200" cy="4305300"/>
          </a:xfrm>
          <a:prstGeom prst="roundRect">
            <a:avLst>
              <a:gd name="adj" fmla="val 8153"/>
            </a:avLst>
          </a:prstGeom>
          <a:solidFill>
            <a:srgbClr val="FEFDFC"/>
          </a:solidFill>
          <a:ln w="57150">
            <a:solidFill>
              <a:srgbClr val="3F59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7D63F43-B52E-12D5-488C-20998A8CB8FF}"/>
              </a:ext>
            </a:extLst>
          </p:cNvPr>
          <p:cNvSpPr txBox="1">
            <a:spLocks/>
          </p:cNvSpPr>
          <p:nvPr/>
        </p:nvSpPr>
        <p:spPr>
          <a:xfrm>
            <a:off x="4616967" y="2331647"/>
            <a:ext cx="2958065" cy="3581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청주시 중심의 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</a:rPr>
              <a:t>도시화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와 청주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·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진천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 ·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음성을 잇는 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산업벨트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가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형성되어 지역 간 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토지 이용 </a:t>
            </a:r>
            <a:endParaRPr lang="en-US" altLang="ko-KR" sz="1800" dirty="0">
              <a:solidFill>
                <a:srgbClr val="D14811"/>
              </a:solidFill>
              <a:latin typeface="KBO 다이아고딕 Medium" pitchFamily="2" charset="-127"/>
              <a:ea typeface="KBO 다이아고딕 Medium" pitchFamily="2" charset="-127"/>
              <a:cs typeface="Noto Sans KR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불균형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이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심화되고 있음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  <a:cs typeface="Noto Sans KR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</a:rPr>
              <a:t>동부</a:t>
            </a:r>
            <a:r>
              <a:rPr lang="en-US" altLang="ko-KR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 ·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남부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지역은 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농업형 중심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 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  <a:cs typeface="Noto Sans KR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구조로 발전 격차가 큼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8B0C939-FC86-66E3-225F-2617DB2BB884}"/>
              </a:ext>
            </a:extLst>
          </p:cNvPr>
          <p:cNvSpPr/>
          <p:nvPr/>
        </p:nvSpPr>
        <p:spPr>
          <a:xfrm>
            <a:off x="4639474" y="1559801"/>
            <a:ext cx="2916790" cy="621716"/>
          </a:xfrm>
          <a:prstGeom prst="roundRect">
            <a:avLst/>
          </a:prstGeom>
          <a:solidFill>
            <a:srgbClr val="3F59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 dirty="0">
                <a:solidFill>
                  <a:srgbClr val="FAF8F4"/>
                </a:solidFill>
                <a:latin typeface="KBO 다이아고딕 Bold" pitchFamily="2" charset="-127"/>
                <a:ea typeface="KBO 다이아고딕 Bold" pitchFamily="2" charset="-127"/>
              </a:rPr>
              <a:t>지역 간 불균형 문제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B974694-54E5-6B2B-B1F9-1953A44F949E}"/>
              </a:ext>
            </a:extLst>
          </p:cNvPr>
          <p:cNvSpPr/>
          <p:nvPr/>
        </p:nvSpPr>
        <p:spPr>
          <a:xfrm>
            <a:off x="8169838" y="1870659"/>
            <a:ext cx="3505200" cy="4305300"/>
          </a:xfrm>
          <a:prstGeom prst="roundRect">
            <a:avLst>
              <a:gd name="adj" fmla="val 8153"/>
            </a:avLst>
          </a:prstGeom>
          <a:solidFill>
            <a:srgbClr val="FEFDFC"/>
          </a:solidFill>
          <a:ln w="57150">
            <a:solidFill>
              <a:srgbClr val="3F59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6B160E3-97BB-C1DD-A178-0A043A0C8468}"/>
              </a:ext>
            </a:extLst>
          </p:cNvPr>
          <p:cNvSpPr txBox="1">
            <a:spLocks/>
          </p:cNvSpPr>
          <p:nvPr/>
        </p:nvSpPr>
        <p:spPr>
          <a:xfrm>
            <a:off x="8358198" y="2200367"/>
            <a:ext cx="3128480" cy="3844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산업 입지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농업 보전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산림 관리 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측면에서 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</a:rPr>
              <a:t>지역별 특성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을 고려한 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차별화된 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</a:rPr>
              <a:t>토지 이용 정책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요구됨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충청북도 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14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개 행정구역의 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</a:rPr>
              <a:t>토지 이용 데이터에 기반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으로 한 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과학적 진단과 </a:t>
            </a:r>
            <a:r>
              <a:rPr lang="ko-KR" altLang="en-US" sz="1800" dirty="0">
                <a:solidFill>
                  <a:srgbClr val="D14811"/>
                </a:solidFill>
                <a:latin typeface="KBO 다이아고딕 Medium" pitchFamily="2" charset="-127"/>
                <a:ea typeface="KBO 다이아고딕 Medium" pitchFamily="2" charset="-127"/>
              </a:rPr>
              <a:t>맞춤형 정책 수립</a:t>
            </a:r>
            <a:endParaRPr lang="en-US" altLang="ko-KR" sz="1800" dirty="0">
              <a:solidFill>
                <a:srgbClr val="D14811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필요</a:t>
            </a:r>
            <a:endParaRPr lang="ko-KR" altLang="en-US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0EF7E51-2DB2-AD38-1464-C3F29C3026BD}"/>
              </a:ext>
            </a:extLst>
          </p:cNvPr>
          <p:cNvSpPr/>
          <p:nvPr/>
        </p:nvSpPr>
        <p:spPr>
          <a:xfrm>
            <a:off x="8464043" y="1559801"/>
            <a:ext cx="2916790" cy="621716"/>
          </a:xfrm>
          <a:prstGeom prst="roundRect">
            <a:avLst/>
          </a:prstGeom>
          <a:solidFill>
            <a:srgbClr val="3F59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 dirty="0">
                <a:solidFill>
                  <a:srgbClr val="FAF8F4"/>
                </a:solidFill>
                <a:latin typeface="KBO 다이아고딕 Bold" pitchFamily="2" charset="-127"/>
                <a:ea typeface="KBO 다이아고딕 Bold" pitchFamily="2" charset="-127"/>
              </a:rPr>
              <a:t>데이터 기반 정책 필요</a:t>
            </a:r>
          </a:p>
        </p:txBody>
      </p:sp>
    </p:spTree>
    <p:extLst>
      <p:ext uri="{BB962C8B-B14F-4D97-AF65-F5344CB8AC3E}">
        <p14:creationId xmlns:p14="http://schemas.microsoft.com/office/powerpoint/2010/main" val="166842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00797-3C0C-90DD-C7B7-0411BB4D3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128306-6761-4414-B696-A635EBE33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4005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1)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충청북도 지적통계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기간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: 2015.12.31~2025.09.30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14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개 행정구역 단위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A45012-13E6-EABC-14B0-C0D3C010F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62" t="24355" r="2087"/>
          <a:stretch>
            <a:fillRect/>
          </a:stretch>
        </p:blipFill>
        <p:spPr>
          <a:xfrm>
            <a:off x="942919" y="2992823"/>
            <a:ext cx="5571914" cy="3148696"/>
          </a:xfrm>
          <a:prstGeom prst="rect">
            <a:avLst/>
          </a:prstGeom>
        </p:spPr>
      </p:pic>
      <p:pic>
        <p:nvPicPr>
          <p:cNvPr id="2" name="그림 1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E94148-A58B-645F-7194-D4C298756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571" y="2992823"/>
            <a:ext cx="3418969" cy="314869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CCC35127-9DC3-9C12-24BD-06943C127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02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521530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047339-9EDE-6336-2EA7-D6F43235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514E835-5C40-0065-5D51-98246205C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4005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1)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충청북도 지적통계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8B4C34E-5F0D-9540-9D1D-84FAD75E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02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수집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266162-22C8-77BA-B9EF-92DA2658A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98" y="2316527"/>
            <a:ext cx="10720001" cy="37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52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8349A-426A-8F2F-01B0-3F2520BB2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B00523-41F7-3852-DFF5-43190ED5B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4005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2)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충청북도 주민등록통계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기간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: 2015.12~2025.09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14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개 행정구역 단위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89B229A-994C-9F18-3D67-77F9D224D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02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수집</a:t>
            </a:r>
          </a:p>
        </p:txBody>
      </p:sp>
      <p:pic>
        <p:nvPicPr>
          <p:cNvPr id="5" name="그림 4" descr="텍스트, 소프트웨어, 컴퓨터 아이콘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C0D3CD-8B46-05A4-542C-4736AD89F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63" t="11421" r="8435"/>
          <a:stretch>
            <a:fillRect/>
          </a:stretch>
        </p:blipFill>
        <p:spPr>
          <a:xfrm>
            <a:off x="979886" y="3028950"/>
            <a:ext cx="4360041" cy="32332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073FC38-C4DA-1DF8-28F2-BDCEA97E7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5" y="711200"/>
            <a:ext cx="4365367" cy="555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10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52F2D5-E407-8DCD-407C-9FF92A4B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84B637-F9AA-830E-3EB7-6E9131A7E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1)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토지 구성비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(2025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-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전체적으로 산림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·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농경지 비중이 우세</a:t>
            </a:r>
            <a:b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</a:b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      -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  <a:cs typeface="Noto Sans KR" pitchFamily="34" charset="-120"/>
              </a:rPr>
              <a:t>행정구역별로 토지 이용 구성에 차이 존재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626BBDF-C7F8-A4F7-77CF-D8DE9C32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03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분석</a:t>
            </a:r>
          </a:p>
        </p:txBody>
      </p:sp>
      <p:pic>
        <p:nvPicPr>
          <p:cNvPr id="2" name="그림 1" descr="텍스트, 스크린샷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8FE211-F531-BDD9-C2F9-4C4203681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43" y="3042265"/>
            <a:ext cx="3356982" cy="3356982"/>
          </a:xfrm>
          <a:prstGeom prst="rect">
            <a:avLst/>
          </a:prstGeom>
        </p:spPr>
      </p:pic>
      <p:pic>
        <p:nvPicPr>
          <p:cNvPr id="4" name="그림 3" descr="텍스트, 원, 스크린샷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EC8FBD-EF33-CB7C-6C1D-A09B0D972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382" y="774700"/>
            <a:ext cx="5624547" cy="5624547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681DCD7-F510-80F6-36DA-C7755F50D24F}"/>
              </a:ext>
            </a:extLst>
          </p:cNvPr>
          <p:cNvSpPr txBox="1">
            <a:spLocks/>
          </p:cNvSpPr>
          <p:nvPr/>
        </p:nvSpPr>
        <p:spPr>
          <a:xfrm>
            <a:off x="909583" y="1665563"/>
            <a:ext cx="4560134" cy="1325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348425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4918" y="1352435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2) </a:t>
            </a:r>
            <a:r>
              <a:rPr lang="ko-KR" altLang="en-US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대지와 공장용지 간 상관분석 </a:t>
            </a:r>
            <a:r>
              <a:rPr lang="en-US" altLang="ko-KR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(2015</a:t>
            </a:r>
            <a:r>
              <a:rPr lang="ko-KR" altLang="en-US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년</a:t>
            </a:r>
            <a:r>
              <a:rPr lang="en-US" altLang="ko-KR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~2025</a:t>
            </a:r>
            <a:r>
              <a:rPr lang="ko-KR" altLang="en-US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년</a:t>
            </a:r>
            <a:r>
              <a:rPr lang="en-US" altLang="ko-KR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)</a:t>
            </a:r>
            <a:endParaRPr lang="en-US" altLang="ko-KR" sz="2000">
              <a:solidFill>
                <a:srgbClr val="3f5943"/>
              </a:solidFill>
              <a:latin typeface="KBO 다이아고딕 Medium"/>
              <a:ea typeface="KBO 다이아고딕 Medium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 idx="0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>
                <a:solidFill>
                  <a:srgbClr val="3f5943"/>
                </a:solidFill>
                <a:latin typeface="KBO 다이아고딕 Bold"/>
                <a:ea typeface="KBO 다이아고딕 Bold"/>
              </a:rPr>
              <a:t>03 </a:t>
            </a:r>
            <a:r>
              <a:rPr lang="ko-KR" altLang="en-US">
                <a:solidFill>
                  <a:srgbClr val="3f5943"/>
                </a:solidFill>
                <a:latin typeface="KBO 다이아고딕 Bold"/>
                <a:ea typeface="KBO 다이아고딕 Bold"/>
              </a:rPr>
              <a:t>데이터 분석</a:t>
            </a:r>
            <a:endParaRPr lang="ko-KR" altLang="en-US">
              <a:solidFill>
                <a:srgbClr val="3f5943"/>
              </a:solidFill>
              <a:latin typeface="KBO 다이아고딕 Bold"/>
              <a:ea typeface="KBO 다이아고딕 Bold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1604" y="2170414"/>
            <a:ext cx="4777952" cy="4180708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7312055" y="1695080"/>
            <a:ext cx="914400" cy="914400"/>
          </a:xfrm>
          <a:prstGeom prst="rect">
            <a:avLst/>
          </a:prstGeom>
        </p:spPr>
        <p:txBody>
          <a:bodyPr wrap="none"/>
          <a:p>
            <a:pPr>
              <a:defRPr/>
            </a:pPr>
            <a:endParaRPr/>
          </a:p>
        </p:txBody>
      </p:sp>
      <p:sp>
        <p:nvSpPr>
          <p:cNvPr id="9" name=""/>
          <p:cNvSpPr txBox="1"/>
          <p:nvPr/>
        </p:nvSpPr>
        <p:spPr>
          <a:xfrm>
            <a:off x="6544508" y="816838"/>
            <a:ext cx="5277588" cy="5177532"/>
          </a:xfrm>
          <a:prstGeom prst="rect">
            <a:avLst/>
          </a:prstGeom>
        </p:spPr>
        <p:txBody>
          <a:bodyPr wrap="none"/>
          <a:p>
            <a:pPr>
              <a:defRPr/>
            </a:pPr>
            <a:r>
              <a:rPr sz="900">
                <a:latin typeface="굴림"/>
                <a:ea typeface="굴림"/>
              </a:rPr>
              <a:t>이 그림은 2015–2025년 동안 충북 각 시·군의 ‘대지 면적’과 ‘공장용지 면적’ 관계를 한눈에 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보여주는 산점도입니다.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2015–2025년 충북 시·군의 대지 면적과 공장용지 면적 간에는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상관계수 r=0.508로 중간 수준의 양의 상관관계가 나타났다.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이는 도시화가 진행될수록 산업용지 확장이 동반되는 경향이 있으나,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모든 지역에서 동일한 패턴이 나타나지는 않음을 의미한다.”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endParaRPr sz="900">
              <a:latin typeface="굴림"/>
              <a:ea typeface="굴림"/>
            </a:endParaRPr>
          </a:p>
          <a:p>
            <a:pPr>
              <a:defRPr/>
            </a:pP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1) r = 0.508은 뭘 뜻해?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여기서 r은 **피어슨 상관계수(Pearson correlation coefficient)**예요.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두 연속형 변수 X(대지면적)와 Y(공장용지면적)가 **직선 관계(linear relationship)**를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얼마나 띄는지 숫자로 표현합니다.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r = +1 : 완벽한 직선(오른쪽 위로 쫙)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r = 0 : 직선 관계 거의 없음(구름처럼 흩어짐)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r = -1 : 완벽한 반대 직선(오른쪽 아래로 쫙)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따라서 0.508은 “중간 정도의 양(+)의 선형 관계”: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대지가 큰 지역일수록 공장용지가 커지는 경향은 있음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하지만 예외(산단 정책, 지형, 인구, 규제 등) 때문에 점들이 많이 흩어져 “완벽하진 않다”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ML식으로 말하면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X만 보고 Y를 예측하는 **단순 선형회귀(Linear Regression)**를 돌리면,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“상당히”는 맞지만 “딱딱” 맞진 않는 정도의 관계라고 보면 돼요.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보통 r²(결정계수)로도 같이 보는데,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r=0.508이면 r² ≈ 0.258 (약 25.8%)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의미: 대지면적 하나로 공장용지 변동의 약 26% 정도만 설명되는 수준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나머지 ~74%는 다른 변수들이 설명하는 영역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2) r=0.508은 상수야? 데이터로 구한 값이야?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데이터 기반으로 계산된 값이에요. 상수가 아닙니다.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같은 변수라도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기간을 2015–2020으로 줄이면 r이 바뀔 수 있고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충북 전체가 아니라 “청주만” 보면 또 바뀔 수 있고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면적 단위를 바꾸거나(㎡→㎢)는 r이 거의 안 바뀌지만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표본(지역/연도/전처리)이 달라지면 r은 달라져요.</a:t>
            </a:r>
            <a:endParaRPr sz="900">
              <a:latin typeface="굴림"/>
              <a:ea typeface="굴림"/>
            </a:endParaRPr>
          </a:p>
          <a:p>
            <a:pPr>
              <a:defRPr/>
            </a:pPr>
            <a:r>
              <a:rPr sz="900">
                <a:latin typeface="굴림"/>
                <a:ea typeface="굴림"/>
              </a:rPr>
              <a:t>즉 r은 **“이번에 사용한 표본 데이터가 만들어낸 요약 통계량(추정치)”**입니다.</a:t>
            </a:r>
            <a:endParaRPr sz="900">
              <a:latin typeface="굴림"/>
              <a:ea typeface="굴림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38902" y="2173534"/>
            <a:ext cx="4409418" cy="369866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748715" y="1997830"/>
            <a:ext cx="4867146" cy="417184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altLang="ko-KR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3) </a:t>
            </a:r>
            <a:r>
              <a:rPr lang="ko-KR" altLang="en-US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토지 비율 상관분석 </a:t>
            </a:r>
            <a:r>
              <a:rPr lang="en-US" altLang="ko-KR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(2015</a:t>
            </a:r>
            <a:r>
              <a:rPr lang="ko-KR" altLang="en-US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년</a:t>
            </a:r>
            <a:r>
              <a:rPr lang="en-US" altLang="ko-KR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~2025</a:t>
            </a:r>
            <a:r>
              <a:rPr lang="ko-KR" altLang="en-US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년</a:t>
            </a:r>
            <a:r>
              <a:rPr lang="en-US" altLang="ko-KR" sz="2000">
                <a:solidFill>
                  <a:srgbClr val="3f5943"/>
                </a:solidFill>
                <a:latin typeface="KBO 다이아고딕 Medium"/>
                <a:ea typeface="KBO 다이아고딕 Medium"/>
              </a:rPr>
              <a:t>)</a:t>
            </a:r>
            <a:endParaRPr lang="en-US" altLang="ko-KR" sz="2000">
              <a:solidFill>
                <a:srgbClr val="3f5943"/>
              </a:solidFill>
              <a:latin typeface="KBO 다이아고딕 Medium"/>
              <a:ea typeface="KBO 다이아고딕 Medium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 idx="0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>
                <a:solidFill>
                  <a:srgbClr val="3f5943"/>
                </a:solidFill>
                <a:latin typeface="KBO 다이아고딕 Bold"/>
                <a:ea typeface="KBO 다이아고딕 Bold"/>
              </a:rPr>
              <a:t>03 </a:t>
            </a:r>
            <a:r>
              <a:rPr lang="ko-KR" altLang="en-US">
                <a:solidFill>
                  <a:srgbClr val="3f5943"/>
                </a:solidFill>
                <a:latin typeface="KBO 다이아고딕 Bold"/>
                <a:ea typeface="KBO 다이아고딕 Bold"/>
              </a:rPr>
              <a:t>데이터 분석</a:t>
            </a:r>
            <a:endParaRPr lang="ko-KR" altLang="en-US">
              <a:solidFill>
                <a:srgbClr val="3f5943"/>
              </a:solidFill>
              <a:latin typeface="KBO 다이아고딕 Bold"/>
              <a:ea typeface="KBO 다이아고딕 Bold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6096000" y="659351"/>
            <a:ext cx="5898842" cy="6444449"/>
          </a:xfrm>
          <a:prstGeom prst="rect">
            <a:avLst/>
          </a:prstGeom>
        </p:spPr>
        <p:txBody>
          <a:bodyPr wrap="none"/>
          <a:p>
            <a:pPr>
              <a:defRPr/>
            </a:pPr>
            <a:endParaRPr sz="900" b="1">
              <a:latin typeface="나눔고딕"/>
              <a:ea typeface="나눔고딕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6345740" y="333374"/>
            <a:ext cx="5421352" cy="1390649"/>
          </a:xfrm>
          <a:prstGeom prst="rect">
            <a:avLst/>
          </a:prstGeom>
        </p:spPr>
        <p:txBody>
          <a:bodyPr wrap="none"/>
          <a:p>
            <a:pPr>
              <a:defRPr/>
            </a:pPr>
            <a:r>
              <a:rPr sz="1000">
                <a:latin typeface="나눔고딕"/>
                <a:ea typeface="나눔고딕"/>
              </a:rPr>
              <a:t>5) 이 차트로 무엇을 할 수 있나? (프로젝트 연결)</a:t>
            </a:r>
            <a:endParaRPr sz="1000">
              <a:latin typeface="나눔고딕"/>
              <a:ea typeface="나눔고딕"/>
            </a:endParaRPr>
          </a:p>
          <a:p>
            <a:pPr>
              <a:defRPr/>
            </a:pPr>
            <a:r>
              <a:rPr sz="1000">
                <a:latin typeface="나눔고딕"/>
                <a:ea typeface="나눔고딕"/>
              </a:rPr>
              <a:t>토지 이용 변화 예측을 할 때</a:t>
            </a:r>
            <a:endParaRPr sz="1000">
              <a:latin typeface="나눔고딕"/>
              <a:ea typeface="나눔고딕"/>
            </a:endParaRPr>
          </a:p>
          <a:p>
            <a:pPr>
              <a:defRPr/>
            </a:pPr>
            <a:r>
              <a:rPr sz="1000">
                <a:latin typeface="나눔고딕"/>
                <a:ea typeface="나눔고딕"/>
              </a:rPr>
              <a:t>임야 감소는 (대지/공장/농경) 증가와 연결되는 핵심 축 후보</a:t>
            </a:r>
            <a:endParaRPr sz="1000">
              <a:latin typeface="나눔고딕"/>
              <a:ea typeface="나눔고딕"/>
            </a:endParaRPr>
          </a:p>
          <a:p>
            <a:pPr>
              <a:defRPr/>
            </a:pPr>
            <a:r>
              <a:rPr sz="1000">
                <a:latin typeface="나눔고딕"/>
                <a:ea typeface="나눔고딕"/>
              </a:rPr>
              <a:t>지역을 유형화할 때</a:t>
            </a:r>
            <a:endParaRPr sz="1000">
              <a:latin typeface="나눔고딕"/>
              <a:ea typeface="나눔고딕"/>
            </a:endParaRPr>
          </a:p>
          <a:p>
            <a:pPr>
              <a:defRPr/>
            </a:pPr>
            <a:r>
              <a:rPr sz="1000">
                <a:latin typeface="나눔고딕"/>
                <a:ea typeface="나눔고딕"/>
              </a:rPr>
              <a:t>“임야 감소형 개발”, “공장-대지 동반형”, “농경 중심 유지형” 같은 클러스터 정의 가능</a:t>
            </a:r>
            <a:endParaRPr sz="1000">
              <a:latin typeface="나눔고딕"/>
              <a:ea typeface="나눔고딕"/>
            </a:endParaRPr>
          </a:p>
          <a:p>
            <a:pPr>
              <a:defRPr/>
            </a:pPr>
            <a:r>
              <a:rPr sz="1000">
                <a:latin typeface="나눔고딕"/>
                <a:ea typeface="나눔고딕"/>
              </a:rPr>
              <a:t>모델 입력 변수 구성</a:t>
            </a:r>
            <a:endParaRPr sz="1000">
              <a:latin typeface="나눔고딕"/>
              <a:ea typeface="나눔고딕"/>
            </a:endParaRPr>
          </a:p>
          <a:p>
            <a:pPr>
              <a:defRPr/>
            </a:pPr>
            <a:r>
              <a:rPr sz="1000">
                <a:latin typeface="나눔고딕"/>
                <a:ea typeface="나눔고딕"/>
              </a:rPr>
              <a:t>상관이 너무 큰 변수끼리는 조정(PCA/규제/선택)하고 쓰는 게 안정적</a:t>
            </a:r>
            <a:endParaRPr sz="1000">
              <a:latin typeface="나눔고딕"/>
              <a:ea typeface="나눔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36A08C-9783-CB9E-E8DC-01C15A8F3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6D49768-6863-E7A3-01B1-A8CB5655C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5480" y="2157308"/>
            <a:ext cx="7532503" cy="4184723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9BE2A1-A137-0D79-9540-3CA46F3F4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4)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토지 이용 비율 변화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(2015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~2025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) -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전체 지역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673E8EE-3390-6F49-4DD9-E4D36AC89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03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분석</a:t>
            </a:r>
          </a:p>
        </p:txBody>
      </p:sp>
    </p:spTree>
    <p:extLst>
      <p:ext uri="{BB962C8B-B14F-4D97-AF65-F5344CB8AC3E}">
        <p14:creationId xmlns:p14="http://schemas.microsoft.com/office/powerpoint/2010/main" val="293718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6BA3B-E6CE-6178-72A0-AE5CD3628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11BB6E8-F7C6-0BE2-3CDA-B182DB640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096" y="4253834"/>
            <a:ext cx="4341804" cy="241211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472868-3CB6-E7C3-B85E-C51BEA4E8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096" y="1882486"/>
            <a:ext cx="4341805" cy="24121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2079461-9EBC-1CE7-DD3F-510A3046FC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1784" y="1883466"/>
            <a:ext cx="4341805" cy="2412114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7861F3-7C89-7D5D-40C0-3F99AA37E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4)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토지 이용 비율 변화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(2015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~2025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) -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대표 지역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3578D96-E10D-2143-9CE7-3FC12A40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03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분석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BA5E551-437C-EFD5-1187-4583689C4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4702" y="4253834"/>
            <a:ext cx="4341803" cy="241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1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DEF304-57B8-31CD-9352-E9DC97D3A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79D079-E2B0-E0C2-4E22-B270E98AB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480" y="2157308"/>
            <a:ext cx="7532503" cy="4184723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5A5232-C102-B007-4B5B-4B4036ED2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5)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 변화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(2015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~2025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) -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전체 지역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1772EB2-C39A-E0F7-F81F-B224EF346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03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분석</a:t>
            </a:r>
          </a:p>
        </p:txBody>
      </p:sp>
    </p:spTree>
    <p:extLst>
      <p:ext uri="{BB962C8B-B14F-4D97-AF65-F5344CB8AC3E}">
        <p14:creationId xmlns:p14="http://schemas.microsoft.com/office/powerpoint/2010/main" val="1395283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CE9AF-0686-DC07-4283-7036DF0D8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D1CA02-56C2-9A95-D172-2308FDF4A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090" y="4258800"/>
            <a:ext cx="4341802" cy="241211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3196A7A-585B-0F06-0F51-6C481739F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1778" y="1882294"/>
            <a:ext cx="4341807" cy="2412114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8952277-E575-699E-9C04-27403BA6BC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6091" y="1882294"/>
            <a:ext cx="4341804" cy="24121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74880AA-725A-EA44-6C87-8AE6BAF32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1779" y="4258800"/>
            <a:ext cx="4341807" cy="2412114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0E8324-C9D5-2003-5138-5ECB323E5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5)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 변화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(2015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~2025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) -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대표 지역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F037BE3-63F0-7BC5-3A40-CBB3FF1D3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03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분석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BEA578-DEFF-9CDB-58FF-29118D2E21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4788" y="4253834"/>
            <a:ext cx="4341803" cy="241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784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F40198-BE6E-4E78-F422-50024A134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5C6B14-02F3-932F-1BD0-B375B3076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1)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충청북도 지적통계 데이터셋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-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행정구역별 토지 유형 면적을 총면적으로 나누어 비율 산출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- 2015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~2025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 데이터를 연도별로 통합하여 하나의 분석 데이터셋 구성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1BF7806-F3EE-9232-4C93-64B18101D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04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전처리</a:t>
            </a:r>
          </a:p>
        </p:txBody>
      </p:sp>
      <p:pic>
        <p:nvPicPr>
          <p:cNvPr id="15" name="그림 14" descr="텍스트, 패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7F6E45-EB8F-B4CE-5AE8-7ED3B7785F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47769"/>
          <a:stretch>
            <a:fillRect/>
          </a:stretch>
        </p:blipFill>
        <p:spPr>
          <a:xfrm>
            <a:off x="544427" y="3717551"/>
            <a:ext cx="11103141" cy="205229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3A4E351-ED8B-F76E-9DBB-C3D55D33C7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99"/>
          <a:stretch>
            <a:fillRect/>
          </a:stretch>
        </p:blipFill>
        <p:spPr>
          <a:xfrm>
            <a:off x="544427" y="3441221"/>
            <a:ext cx="1903498" cy="16586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F330B71-D39F-3949-B033-0EEE2962D2C1}"/>
              </a:ext>
            </a:extLst>
          </p:cNvPr>
          <p:cNvSpPr txBox="1"/>
          <p:nvPr/>
        </p:nvSpPr>
        <p:spPr>
          <a:xfrm>
            <a:off x="5515549" y="5836501"/>
            <a:ext cx="11608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최종 산출물</a:t>
            </a:r>
          </a:p>
        </p:txBody>
      </p:sp>
    </p:spTree>
    <p:extLst>
      <p:ext uri="{BB962C8B-B14F-4D97-AF65-F5344CB8AC3E}">
        <p14:creationId xmlns:p14="http://schemas.microsoft.com/office/powerpoint/2010/main" val="3116930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A444DD-731F-C612-908C-D149B0154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73DF28-EE27-E90D-DFFE-ED9D12C12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1)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충청북도 지적통계 데이터셋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EB35763-D4E6-73B3-389E-15A0ADB39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04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전처리</a:t>
            </a: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45B6C5-2895-5CB2-9D7E-F4C41C5334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0"/>
          <a:stretch>
            <a:fillRect/>
          </a:stretch>
        </p:blipFill>
        <p:spPr>
          <a:xfrm>
            <a:off x="589996" y="2573870"/>
            <a:ext cx="2829151" cy="2855262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5FF895FD-EF70-AF05-6045-64F179070681}"/>
              </a:ext>
            </a:extLst>
          </p:cNvPr>
          <p:cNvSpPr/>
          <p:nvPr/>
        </p:nvSpPr>
        <p:spPr>
          <a:xfrm>
            <a:off x="3566302" y="3749089"/>
            <a:ext cx="586733" cy="504825"/>
          </a:xfrm>
          <a:prstGeom prst="rightArrow">
            <a:avLst/>
          </a:prstGeom>
          <a:solidFill>
            <a:srgbClr val="97B7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9EB80E-3941-337D-51F9-DBB5215E2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512" y="1337060"/>
            <a:ext cx="3470995" cy="532888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46B50D-959B-BC72-32AF-99AC63BA9A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499"/>
          <a:stretch>
            <a:fillRect/>
          </a:stretch>
        </p:blipFill>
        <p:spPr>
          <a:xfrm>
            <a:off x="8647194" y="3858942"/>
            <a:ext cx="3240006" cy="282330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F984BBD-2AB4-C492-F9E8-C5EC162AA34D}"/>
              </a:ext>
            </a:extLst>
          </p:cNvPr>
          <p:cNvSpPr/>
          <p:nvPr/>
        </p:nvSpPr>
        <p:spPr>
          <a:xfrm>
            <a:off x="7914984" y="3778029"/>
            <a:ext cx="586733" cy="504825"/>
          </a:xfrm>
          <a:prstGeom prst="rightArrow">
            <a:avLst/>
          </a:prstGeom>
          <a:solidFill>
            <a:srgbClr val="97B7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BE0E44-4948-4698-46AB-8D3346AAFAB5}"/>
              </a:ext>
            </a:extLst>
          </p:cNvPr>
          <p:cNvSpPr txBox="1"/>
          <p:nvPr/>
        </p:nvSpPr>
        <p:spPr>
          <a:xfrm>
            <a:off x="1331149" y="5616909"/>
            <a:ext cx="1346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기존 데이터셋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0499D3-7A03-E20E-2EED-6EB0985F5854}"/>
              </a:ext>
            </a:extLst>
          </p:cNvPr>
          <p:cNvSpPr txBox="1"/>
          <p:nvPr/>
        </p:nvSpPr>
        <p:spPr>
          <a:xfrm>
            <a:off x="9686749" y="4370886"/>
            <a:ext cx="11608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최종 산출물</a:t>
            </a:r>
          </a:p>
        </p:txBody>
      </p:sp>
    </p:spTree>
    <p:extLst>
      <p:ext uri="{BB962C8B-B14F-4D97-AF65-F5344CB8AC3E}">
        <p14:creationId xmlns:p14="http://schemas.microsoft.com/office/powerpoint/2010/main" val="1970255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2BAFC-310A-4B60-DF17-9AF2F79A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29A006-FB12-2155-5747-3EFF78932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2)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충청북도 주민등록통계 데이터셋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-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행정구역별 인구수를 면적으로 나누어 인구밀도 산출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- 2015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~2025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년 데이터를 연도별로 통합하여 하나의 분석 데이터셋 구성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B2D1A21-1465-6FD7-FED6-3D9B787AA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04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전처리</a:t>
            </a:r>
          </a:p>
        </p:txBody>
      </p:sp>
      <p:pic>
        <p:nvPicPr>
          <p:cNvPr id="2" name="그림 1" descr="텍스트, 패턴, 스크린샷, 대칭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AA01DA-527D-0568-24B8-C8A964443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40" y="3429000"/>
            <a:ext cx="7083998" cy="2543763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4CAF7394-44D6-C423-E250-B49E90CB6131}"/>
              </a:ext>
            </a:extLst>
          </p:cNvPr>
          <p:cNvSpPr/>
          <p:nvPr/>
        </p:nvSpPr>
        <p:spPr>
          <a:xfrm>
            <a:off x="7628631" y="4448468"/>
            <a:ext cx="586733" cy="504825"/>
          </a:xfrm>
          <a:prstGeom prst="rightArrow">
            <a:avLst/>
          </a:prstGeom>
          <a:solidFill>
            <a:srgbClr val="97B7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그림 1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44E24B-FD8B-37B4-999A-DE9C311B2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057" y="1909609"/>
            <a:ext cx="3432206" cy="405680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91A87D2-1587-C78B-B26F-E83414C6B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372" y="1683523"/>
            <a:ext cx="2090687" cy="1513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8C0956-FB3F-E644-49DD-3B430123E8AA}"/>
              </a:ext>
            </a:extLst>
          </p:cNvPr>
          <p:cNvSpPr txBox="1"/>
          <p:nvPr/>
        </p:nvSpPr>
        <p:spPr>
          <a:xfrm>
            <a:off x="9461712" y="6103747"/>
            <a:ext cx="11608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최종 산출물</a:t>
            </a:r>
          </a:p>
        </p:txBody>
      </p:sp>
      <p:pic>
        <p:nvPicPr>
          <p:cNvPr id="16" name="그림 1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F284C9-2F42-DE2D-2F43-4680D273F1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80" b="89099"/>
          <a:stretch>
            <a:fillRect/>
          </a:stretch>
        </p:blipFill>
        <p:spPr>
          <a:xfrm>
            <a:off x="433736" y="3183664"/>
            <a:ext cx="1654144" cy="1702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055FEE-CABA-4FA0-8BAE-C28F0B4A37F2}"/>
              </a:ext>
            </a:extLst>
          </p:cNvPr>
          <p:cNvSpPr txBox="1"/>
          <p:nvPr/>
        </p:nvSpPr>
        <p:spPr>
          <a:xfrm>
            <a:off x="3302517" y="6103747"/>
            <a:ext cx="1346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기존 데이터셋</a:t>
            </a:r>
          </a:p>
        </p:txBody>
      </p:sp>
    </p:spTree>
    <p:extLst>
      <p:ext uri="{BB962C8B-B14F-4D97-AF65-F5344CB8AC3E}">
        <p14:creationId xmlns:p14="http://schemas.microsoft.com/office/powerpoint/2010/main" val="665891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84F458-A769-7644-FCA3-C622142EF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64FE5C-F3B8-8901-1990-28C5862BB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1)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충청북도 지적통계 데이터셋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2BAD412-028B-83A1-C747-855DA35C0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04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전처리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9835BE-6A48-BE67-9361-0A815D721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38" y="4974006"/>
            <a:ext cx="3300784" cy="366755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3A75B7CD-0DD9-9A36-31D5-6D6E1C3A808D}"/>
              </a:ext>
            </a:extLst>
          </p:cNvPr>
          <p:cNvSpPr/>
          <p:nvPr/>
        </p:nvSpPr>
        <p:spPr>
          <a:xfrm>
            <a:off x="3652110" y="4904970"/>
            <a:ext cx="586733" cy="504825"/>
          </a:xfrm>
          <a:prstGeom prst="rightArrow">
            <a:avLst/>
          </a:prstGeom>
          <a:solidFill>
            <a:srgbClr val="97B7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0F5377F-F72B-3D0A-10DD-AE4A15F22FE7}"/>
              </a:ext>
            </a:extLst>
          </p:cNvPr>
          <p:cNvSpPr/>
          <p:nvPr/>
        </p:nvSpPr>
        <p:spPr>
          <a:xfrm>
            <a:off x="7979353" y="3795438"/>
            <a:ext cx="586733" cy="504825"/>
          </a:xfrm>
          <a:prstGeom prst="rightArrow">
            <a:avLst/>
          </a:prstGeom>
          <a:solidFill>
            <a:srgbClr val="97B7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B10B89F-A7B9-7173-5033-21956CE87335}"/>
              </a:ext>
            </a:extLst>
          </p:cNvPr>
          <p:cNvSpPr/>
          <p:nvPr/>
        </p:nvSpPr>
        <p:spPr>
          <a:xfrm rot="5400000">
            <a:off x="1621187" y="4308854"/>
            <a:ext cx="586733" cy="504825"/>
          </a:xfrm>
          <a:prstGeom prst="rightArrow">
            <a:avLst/>
          </a:prstGeom>
          <a:solidFill>
            <a:srgbClr val="97B7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9450B8-3D4E-6E83-4D88-C94C2A7BA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38" y="2576725"/>
            <a:ext cx="3300784" cy="1571802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8BE912-4998-BB58-6DB6-416057B85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532" y="2384221"/>
            <a:ext cx="3587133" cy="332726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B5E097A-A3A1-F90B-7C23-20BFA7FE2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2775" y="3928495"/>
            <a:ext cx="3296520" cy="2387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412CA0-4F0F-5DE1-034E-5782BED391EF}"/>
              </a:ext>
            </a:extLst>
          </p:cNvPr>
          <p:cNvSpPr txBox="1"/>
          <p:nvPr/>
        </p:nvSpPr>
        <p:spPr>
          <a:xfrm>
            <a:off x="1251608" y="5542206"/>
            <a:ext cx="1346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기존 데이터셋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0D7198-4526-AEEA-3183-B1DE617B76F3}"/>
              </a:ext>
            </a:extLst>
          </p:cNvPr>
          <p:cNvSpPr txBox="1"/>
          <p:nvPr/>
        </p:nvSpPr>
        <p:spPr>
          <a:xfrm>
            <a:off x="9710587" y="4391989"/>
            <a:ext cx="11608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최종 산출물</a:t>
            </a:r>
          </a:p>
        </p:txBody>
      </p:sp>
    </p:spTree>
    <p:extLst>
      <p:ext uri="{BB962C8B-B14F-4D97-AF65-F5344CB8AC3E}">
        <p14:creationId xmlns:p14="http://schemas.microsoft.com/office/powerpoint/2010/main" val="2932014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3A805-4CCA-96FA-F6AD-B16600457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EBA123-6063-3B5A-D9E0-2015E5FB1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3)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데이터 표준화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(Standardization)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- K-Means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는 거리 기반 군집 알고리즘으로 변수 스케일의 영향을 크게 받음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-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토지 이용 비율과 인구밀도는 값의 범위가 상이하여 직접 비교가 어려움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-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특히 충청북도는 임야 비율이 높아 특정 변수가 군집 형성에 과도한 영향을 미칠 가능성이 있음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-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표준화를 통해 변수 간 영향력을 균등화 하여 군집 결과의 안정성을 확보함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 - PCA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시각화 시 군집 간 분리도와 해석 가능성 향상에 기여함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BA6FCB6-01F4-B05B-0EE8-BB633C63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04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전처리</a:t>
            </a:r>
          </a:p>
        </p:txBody>
      </p:sp>
    </p:spTree>
    <p:extLst>
      <p:ext uri="{BB962C8B-B14F-4D97-AF65-F5344CB8AC3E}">
        <p14:creationId xmlns:p14="http://schemas.microsoft.com/office/powerpoint/2010/main" val="1127682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AF0A1-9052-60FB-97DD-0E73B0D61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53A3DC-5F60-3784-B954-B65BFF1DB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3)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데이터 표준화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(Standardization)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2AE7EC8-E9EF-2238-0F48-458259CFA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04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전처리</a:t>
            </a:r>
          </a:p>
        </p:txBody>
      </p:sp>
      <p:pic>
        <p:nvPicPr>
          <p:cNvPr id="2" name="그림 1" descr="텍스트, 폰트, 스크린샷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D036C4-07A8-C94A-1DAD-C9BD644AB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899" y="2229081"/>
            <a:ext cx="4412182" cy="976365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C2F3D4-4660-C08E-5B3F-DA529E5D7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94" y="2229081"/>
            <a:ext cx="5765127" cy="410666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CC56100-38E0-5169-5505-35BD3A2C321F}"/>
              </a:ext>
            </a:extLst>
          </p:cNvPr>
          <p:cNvSpPr/>
          <p:nvPr/>
        </p:nvSpPr>
        <p:spPr>
          <a:xfrm>
            <a:off x="911994" y="4403860"/>
            <a:ext cx="5765127" cy="1931887"/>
          </a:xfrm>
          <a:prstGeom prst="rect">
            <a:avLst/>
          </a:prstGeom>
          <a:noFill/>
          <a:ln w="57150">
            <a:solidFill>
              <a:srgbClr val="97B7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EFDC6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28BFF-1FF7-8754-BA59-A66216A7091D}"/>
              </a:ext>
            </a:extLst>
          </p:cNvPr>
          <p:cNvSpPr txBox="1"/>
          <p:nvPr/>
        </p:nvSpPr>
        <p:spPr>
          <a:xfrm>
            <a:off x="7448103" y="3429000"/>
            <a:ext cx="37657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표준화</a:t>
            </a:r>
            <a:r>
              <a:rPr lang="en-US" altLang="ko-KR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(Standardization)</a:t>
            </a:r>
            <a:r>
              <a:rPr lang="ko-KR" altLang="en-US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적용 코드 일부</a:t>
            </a:r>
          </a:p>
        </p:txBody>
      </p:sp>
    </p:spTree>
    <p:extLst>
      <p:ext uri="{BB962C8B-B14F-4D97-AF65-F5344CB8AC3E}">
        <p14:creationId xmlns:p14="http://schemas.microsoft.com/office/powerpoint/2010/main" val="999480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12065-63D3-0EE4-FEC5-F871DBB8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B755AE-0ECC-4C13-27B4-125FD8206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3)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데이터 표준화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8220F88-98C1-8339-E38D-8302557F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04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데이터 전처리</a:t>
            </a:r>
          </a:p>
        </p:txBody>
      </p:sp>
      <p:pic>
        <p:nvPicPr>
          <p:cNvPr id="5" name="그림 4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2BC207-535A-9AD5-03BE-6B1658816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17" y="2077507"/>
            <a:ext cx="4898150" cy="3809673"/>
          </a:xfrm>
          <a:prstGeom prst="rect">
            <a:avLst/>
          </a:prstGeom>
        </p:spPr>
      </p:pic>
      <p:pic>
        <p:nvPicPr>
          <p:cNvPr id="6" name="그림 5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2B6EA3-1543-5773-DDF2-0E7F49FB4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616" y="2077508"/>
            <a:ext cx="4898150" cy="38096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445D0D-A3F5-F8AD-C66F-CBC859043BA4}"/>
              </a:ext>
            </a:extLst>
          </p:cNvPr>
          <p:cNvSpPr txBox="1"/>
          <p:nvPr/>
        </p:nvSpPr>
        <p:spPr>
          <a:xfrm>
            <a:off x="2270796" y="6019382"/>
            <a:ext cx="2169184" cy="4593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데이터 표준화 적용 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57ABB-3DFF-9935-8ECE-648A92BC6E62}"/>
              </a:ext>
            </a:extLst>
          </p:cNvPr>
          <p:cNvSpPr txBox="1"/>
          <p:nvPr/>
        </p:nvSpPr>
        <p:spPr>
          <a:xfrm>
            <a:off x="7819897" y="6019382"/>
            <a:ext cx="1957587" cy="4593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데이터 표준화 적용</a:t>
            </a:r>
            <a:endParaRPr lang="en-US" altLang="ko-KR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8EC9D4B-6BFB-B61D-D85A-6CDE3A86ED6A}"/>
              </a:ext>
            </a:extLst>
          </p:cNvPr>
          <p:cNvSpPr/>
          <p:nvPr/>
        </p:nvSpPr>
        <p:spPr>
          <a:xfrm rot="238607">
            <a:off x="2643198" y="4521196"/>
            <a:ext cx="671512" cy="1196395"/>
          </a:xfrm>
          <a:prstGeom prst="ellipse">
            <a:avLst/>
          </a:prstGeom>
          <a:noFill/>
          <a:ln w="57150">
            <a:solidFill>
              <a:srgbClr val="97B7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97B79C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179CD22-5B33-2598-76C6-658C49F74A1E}"/>
              </a:ext>
            </a:extLst>
          </p:cNvPr>
          <p:cNvSpPr/>
          <p:nvPr/>
        </p:nvSpPr>
        <p:spPr>
          <a:xfrm rot="19917855">
            <a:off x="8058963" y="2105813"/>
            <a:ext cx="671512" cy="896839"/>
          </a:xfrm>
          <a:prstGeom prst="ellipse">
            <a:avLst/>
          </a:prstGeom>
          <a:noFill/>
          <a:ln w="57150">
            <a:solidFill>
              <a:srgbClr val="97B7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97B7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947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EDB2C-272A-073A-FBAA-BF75E3D4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3C7457-B3AB-93A5-2D4A-FF5FE8928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1)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군집화 분석 개요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- K-Means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알고리즘을 이용한 군집화 수행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-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차원 축소 및 시각화를 위해 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PCA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적용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-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전처라된 토지 이용 비율 및 인구 관련 변수 활용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94AD3D2-68AF-0906-62A5-AC6D9DD8C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05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군집화 분석</a:t>
            </a:r>
          </a:p>
        </p:txBody>
      </p:sp>
      <p:pic>
        <p:nvPicPr>
          <p:cNvPr id="2" name="그림 1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1BE79-6418-701A-79F8-57978ACA2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27" y="3732486"/>
            <a:ext cx="4448060" cy="2641761"/>
          </a:xfrm>
          <a:prstGeom prst="rect">
            <a:avLst/>
          </a:prstGeom>
        </p:spPr>
      </p:pic>
      <p:pic>
        <p:nvPicPr>
          <p:cNvPr id="4" name="그림 3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0913FD-3244-BA8F-097F-57D189F3F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251" y="618748"/>
            <a:ext cx="4448060" cy="5755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030219-6FC0-0467-C7FC-3A9B3111B41D}"/>
              </a:ext>
            </a:extLst>
          </p:cNvPr>
          <p:cNvSpPr txBox="1"/>
          <p:nvPr/>
        </p:nvSpPr>
        <p:spPr>
          <a:xfrm>
            <a:off x="8074150" y="236124"/>
            <a:ext cx="18902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PCA </a:t>
            </a:r>
            <a:r>
              <a:rPr lang="ko-KR" altLang="en-US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적용 코드 일부</a:t>
            </a:r>
          </a:p>
        </p:txBody>
      </p:sp>
    </p:spTree>
    <p:extLst>
      <p:ext uri="{BB962C8B-B14F-4D97-AF65-F5344CB8AC3E}">
        <p14:creationId xmlns:p14="http://schemas.microsoft.com/office/powerpoint/2010/main" val="1964493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BAB1D3-996D-2D4A-670D-A7297C084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BFCD2A-B8DF-7790-65FF-3E366F256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2)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군집화 실험 구성 및 결과 비교 기준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(1)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기본 토지 이용 비율을 이용한 군집화 결과 분석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(2)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인구밀도를 포함한 확장 변수 구성에 따른 군집 구조 변화 확인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(3)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연도별 군집 결과 비교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(4) k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값 변화에 따른 군집 결과 비교</a:t>
            </a:r>
            <a:endParaRPr lang="en-US" altLang="ko-KR" sz="18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5FAA88B-AA13-8AD8-E184-D3F5D133B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05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군집화 분석</a:t>
            </a:r>
          </a:p>
        </p:txBody>
      </p:sp>
    </p:spTree>
    <p:extLst>
      <p:ext uri="{BB962C8B-B14F-4D97-AF65-F5344CB8AC3E}">
        <p14:creationId xmlns:p14="http://schemas.microsoft.com/office/powerpoint/2010/main" val="987882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81A03-DFE9-F1EF-F491-75DEAB00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A0FDA6-3705-4D10-0BE2-9937205D4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3)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군집화 결과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(k = 3)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29A1ED4-9F76-1F5C-2A00-1CD765B8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05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군집화 분석</a:t>
            </a:r>
          </a:p>
        </p:txBody>
      </p:sp>
      <p:pic>
        <p:nvPicPr>
          <p:cNvPr id="5" name="그림 4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709436-F04C-5EF4-83D0-3AA34B4C5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166" y="2398991"/>
            <a:ext cx="5183281" cy="4146625"/>
          </a:xfrm>
          <a:prstGeom prst="rect">
            <a:avLst/>
          </a:prstGeom>
        </p:spPr>
      </p:pic>
      <p:pic>
        <p:nvPicPr>
          <p:cNvPr id="6" name="그림 5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8F4763-347A-1ADF-B1A6-0A208896B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60" y="2514174"/>
            <a:ext cx="5183282" cy="40314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297DCF-6D10-45B8-C8E2-E3B18F987C1A}"/>
              </a:ext>
            </a:extLst>
          </p:cNvPr>
          <p:cNvSpPr txBox="1"/>
          <p:nvPr/>
        </p:nvSpPr>
        <p:spPr>
          <a:xfrm>
            <a:off x="857560" y="1958774"/>
            <a:ext cx="42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(1)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기본 피처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임야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농경지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대지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공장용지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)</a:t>
            </a:r>
            <a:endParaRPr lang="ko-KR" altLang="en-US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75AA82-2FE6-5EF5-4D31-106E1FCD9841}"/>
              </a:ext>
            </a:extLst>
          </p:cNvPr>
          <p:cNvSpPr txBox="1"/>
          <p:nvPr/>
        </p:nvSpPr>
        <p:spPr>
          <a:xfrm>
            <a:off x="6388166" y="1958774"/>
            <a:ext cx="329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(2)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기본 피처 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+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도로율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</a:t>
            </a:r>
          </a:p>
        </p:txBody>
      </p:sp>
    </p:spTree>
    <p:extLst>
      <p:ext uri="{BB962C8B-B14F-4D97-AF65-F5344CB8AC3E}">
        <p14:creationId xmlns:p14="http://schemas.microsoft.com/office/powerpoint/2010/main" val="3796309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F9ADF7-7873-2A7E-567D-42057B4D1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F2FE06-7A55-54E2-BDFC-4B48E1B23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166" y="2398991"/>
            <a:ext cx="5331375" cy="4146625"/>
          </a:xfrm>
          <a:prstGeom prst="rect">
            <a:avLst/>
          </a:prstGeom>
        </p:spPr>
      </p:pic>
      <p:pic>
        <p:nvPicPr>
          <p:cNvPr id="2" name="그림 1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7C15F5-4052-DCDF-D3BD-F0DFF1AFA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60" y="2398991"/>
            <a:ext cx="5331374" cy="414662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5770ED-6222-A4F0-1C84-56737729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3)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군집화 결과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(k = 3)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BD263DD-8EC6-FBAE-BFA3-18477EB4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05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군집화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35CCB-9820-07A1-9F96-D4BF0C5DDE8C}"/>
              </a:ext>
            </a:extLst>
          </p:cNvPr>
          <p:cNvSpPr txBox="1"/>
          <p:nvPr/>
        </p:nvSpPr>
        <p:spPr>
          <a:xfrm>
            <a:off x="857560" y="1958774"/>
            <a:ext cx="347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(3)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토지 유형 관련 피처 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+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8B745A-DD13-83FE-2F48-A68D02E25FB3}"/>
              </a:ext>
            </a:extLst>
          </p:cNvPr>
          <p:cNvSpPr txBox="1"/>
          <p:nvPr/>
        </p:nvSpPr>
        <p:spPr>
          <a:xfrm>
            <a:off x="6388166" y="1958774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(4)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모든 피처 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+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8AA3CDD-81D5-A158-9CCB-06B1F3566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985" y="192053"/>
            <a:ext cx="4989556" cy="133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r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* </a:t>
            </a:r>
            <a:r>
              <a:rPr lang="ko-KR" altLang="en-US" sz="11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토지 유형 관련 피처</a:t>
            </a:r>
            <a:endParaRPr lang="en-US" altLang="ko-KR" sz="1100" b="1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lvl="0" algn="r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공장용지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도로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철도용지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주차장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주유소용지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창고용지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학교용지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수도용지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</a:p>
          <a:p>
            <a:pPr lvl="0" algn="r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공원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체육용지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유원지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종교용지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잡종지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답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전 면적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과수원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목장용지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임야 면적(㎡)</a:t>
            </a:r>
          </a:p>
        </p:txBody>
      </p:sp>
    </p:spTree>
    <p:extLst>
      <p:ext uri="{BB962C8B-B14F-4D97-AF65-F5344CB8AC3E}">
        <p14:creationId xmlns:p14="http://schemas.microsoft.com/office/powerpoint/2010/main" val="1502538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010A0B-9A7C-B44B-BA3E-C14A7AF22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4ECD1C-CD5F-6EFC-9956-F60A0BBF5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165" y="2397340"/>
            <a:ext cx="5331375" cy="4146625"/>
          </a:xfrm>
          <a:prstGeom prst="rect">
            <a:avLst/>
          </a:prstGeom>
        </p:spPr>
      </p:pic>
      <p:pic>
        <p:nvPicPr>
          <p:cNvPr id="2" name="그림 1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FB734E-8F3D-8D9E-A952-4444824D3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59" y="2397340"/>
            <a:ext cx="5331375" cy="414662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314CE8-7CBC-D1E3-7B80-6BE64C472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4)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연도별 군집화 결과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(k = 3)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A8D65FB-27E0-5956-44B6-EB32A3559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05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군집화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6383C-FB4F-D62B-56D3-925B9FBD16F0}"/>
              </a:ext>
            </a:extLst>
          </p:cNvPr>
          <p:cNvSpPr txBox="1"/>
          <p:nvPr/>
        </p:nvSpPr>
        <p:spPr>
          <a:xfrm>
            <a:off x="857560" y="1958774"/>
            <a:ext cx="42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(1)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기본 피처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임야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농경지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대지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공장용지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)</a:t>
            </a:r>
            <a:endParaRPr lang="ko-KR" altLang="en-US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9697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E3C3E-8514-5EEA-8B84-AB9529EFD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A37BF4-7B0D-2E3B-E968-2CC755358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164" y="2397340"/>
            <a:ext cx="5331375" cy="4146625"/>
          </a:xfrm>
          <a:prstGeom prst="rect">
            <a:avLst/>
          </a:prstGeom>
        </p:spPr>
      </p:pic>
      <p:pic>
        <p:nvPicPr>
          <p:cNvPr id="11" name="그림 10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EB34E8-0E0D-FF53-A48B-94413AD0F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58" y="2397340"/>
            <a:ext cx="5331375" cy="414662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8F0094-DAFC-D30A-48E1-DB430D345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4)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연도별 군집화 결과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(k = 3)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35409C1-3CEA-B407-2D07-4BA070A93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05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군집화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75E1D-142F-3E65-0A4C-49B745A9A6E1}"/>
              </a:ext>
            </a:extLst>
          </p:cNvPr>
          <p:cNvSpPr txBox="1"/>
          <p:nvPr/>
        </p:nvSpPr>
        <p:spPr>
          <a:xfrm>
            <a:off x="857560" y="1958774"/>
            <a:ext cx="3239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(2)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기본 피처 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+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도로율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</a:t>
            </a:r>
          </a:p>
        </p:txBody>
      </p:sp>
    </p:spTree>
    <p:extLst>
      <p:ext uri="{BB962C8B-B14F-4D97-AF65-F5344CB8AC3E}">
        <p14:creationId xmlns:p14="http://schemas.microsoft.com/office/powerpoint/2010/main" val="3314062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BD981-496C-A167-9F35-FCB590659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2A94E9-56FE-378C-DE51-AF1ED601C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166" y="2398990"/>
            <a:ext cx="5331374" cy="4146625"/>
          </a:xfrm>
          <a:prstGeom prst="rect">
            <a:avLst/>
          </a:prstGeom>
        </p:spPr>
      </p:pic>
      <p:pic>
        <p:nvPicPr>
          <p:cNvPr id="11" name="그림 10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86AB66-094B-3750-54AE-1CD7B77F4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60" y="2398991"/>
            <a:ext cx="5331374" cy="414662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F645E8-6892-1D94-014B-634A0F252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4)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연도별 군집화 결과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(k = 3)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2CF2A2E-EEB1-FB81-5DE4-DA3B74DDC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05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군집화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8475C-ABBA-560A-CC54-9F1CC1C071D5}"/>
              </a:ext>
            </a:extLst>
          </p:cNvPr>
          <p:cNvSpPr txBox="1"/>
          <p:nvPr/>
        </p:nvSpPr>
        <p:spPr>
          <a:xfrm>
            <a:off x="857560" y="1958774"/>
            <a:ext cx="347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(3)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토지 유형 관련 피처 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+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CA10F0B-489C-5BDF-87BF-528381740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984" y="801074"/>
            <a:ext cx="4989556" cy="133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r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* </a:t>
            </a:r>
            <a:r>
              <a:rPr lang="ko-KR" altLang="en-US" sz="11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토지 유형 관련 피처</a:t>
            </a:r>
            <a:endParaRPr lang="en-US" altLang="ko-KR" sz="1100" b="1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lvl="0" algn="r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공장용지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도로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철도용지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주차장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주유소용지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창고용지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학교용지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수도용지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</a:p>
          <a:p>
            <a:pPr lvl="0" algn="r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공원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체육용지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유원지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종교용지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잡종지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답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전 면적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과수원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목장용지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임야 면적(㎡)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B041817-17E8-8713-FF8E-C85690F82705}"/>
              </a:ext>
            </a:extLst>
          </p:cNvPr>
          <p:cNvSpPr/>
          <p:nvPr/>
        </p:nvSpPr>
        <p:spPr>
          <a:xfrm>
            <a:off x="3698082" y="3971373"/>
            <a:ext cx="573881" cy="573881"/>
          </a:xfrm>
          <a:prstGeom prst="ellipse">
            <a:avLst/>
          </a:prstGeom>
          <a:noFill/>
          <a:ln w="57150">
            <a:solidFill>
              <a:srgbClr val="97B7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509330D-480C-14B0-DC72-F5DBA7BCEA21}"/>
              </a:ext>
            </a:extLst>
          </p:cNvPr>
          <p:cNvSpPr/>
          <p:nvPr/>
        </p:nvSpPr>
        <p:spPr>
          <a:xfrm>
            <a:off x="5037932" y="2609286"/>
            <a:ext cx="573881" cy="573881"/>
          </a:xfrm>
          <a:prstGeom prst="ellipse">
            <a:avLst/>
          </a:prstGeom>
          <a:noFill/>
          <a:ln w="57150">
            <a:solidFill>
              <a:srgbClr val="97B7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D803BC5-B41A-B22A-0808-152D41B9FA5F}"/>
              </a:ext>
            </a:extLst>
          </p:cNvPr>
          <p:cNvSpPr/>
          <p:nvPr/>
        </p:nvSpPr>
        <p:spPr>
          <a:xfrm>
            <a:off x="9381332" y="4215841"/>
            <a:ext cx="573881" cy="573881"/>
          </a:xfrm>
          <a:prstGeom prst="ellipse">
            <a:avLst/>
          </a:prstGeom>
          <a:noFill/>
          <a:ln w="57150">
            <a:solidFill>
              <a:srgbClr val="97B7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A91A496-2DB5-C843-CE61-9B907F83C01A}"/>
              </a:ext>
            </a:extLst>
          </p:cNvPr>
          <p:cNvSpPr/>
          <p:nvPr/>
        </p:nvSpPr>
        <p:spPr>
          <a:xfrm>
            <a:off x="10867232" y="3080462"/>
            <a:ext cx="573881" cy="573881"/>
          </a:xfrm>
          <a:prstGeom prst="ellipse">
            <a:avLst/>
          </a:prstGeom>
          <a:noFill/>
          <a:ln w="57150">
            <a:solidFill>
              <a:srgbClr val="97B7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3817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0BA4BA-5993-949C-BD6F-75F8A3B7F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도표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13FDFC-E216-8F90-E6BF-B40FBBBD7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166" y="2519323"/>
            <a:ext cx="5183282" cy="4031442"/>
          </a:xfrm>
          <a:prstGeom prst="rect">
            <a:avLst/>
          </a:prstGeom>
        </p:spPr>
      </p:pic>
      <p:pic>
        <p:nvPicPr>
          <p:cNvPr id="6" name="그림 5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F5D4FD-CB60-97FF-F6AB-7250AC40DB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55" y="2519323"/>
            <a:ext cx="5183282" cy="4031442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4691C9-9B23-DB1C-BD0C-2AB90A0FF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4)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연도별 군집화 결과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(k = 3)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D481B9C-8DF1-DB3D-40AB-4E25D17D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05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군집화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645C5C-8A24-B68F-F03E-7900E46AAD42}"/>
              </a:ext>
            </a:extLst>
          </p:cNvPr>
          <p:cNvSpPr txBox="1"/>
          <p:nvPr/>
        </p:nvSpPr>
        <p:spPr>
          <a:xfrm>
            <a:off x="857560" y="1958774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(4)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모든 피처 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+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CF49F30-7429-A643-FF22-588EF43645B4}"/>
              </a:ext>
            </a:extLst>
          </p:cNvPr>
          <p:cNvSpPr/>
          <p:nvPr/>
        </p:nvSpPr>
        <p:spPr>
          <a:xfrm>
            <a:off x="2370932" y="3371850"/>
            <a:ext cx="466725" cy="466725"/>
          </a:xfrm>
          <a:prstGeom prst="ellipse">
            <a:avLst/>
          </a:prstGeom>
          <a:noFill/>
          <a:ln w="57150">
            <a:solidFill>
              <a:srgbClr val="97B7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5F105C7-70E8-1B9E-C382-2A91F688E9F3}"/>
              </a:ext>
            </a:extLst>
          </p:cNvPr>
          <p:cNvSpPr/>
          <p:nvPr/>
        </p:nvSpPr>
        <p:spPr>
          <a:xfrm>
            <a:off x="7876383" y="3322053"/>
            <a:ext cx="466725" cy="466725"/>
          </a:xfrm>
          <a:prstGeom prst="ellipse">
            <a:avLst/>
          </a:prstGeom>
          <a:noFill/>
          <a:ln w="57150">
            <a:solidFill>
              <a:srgbClr val="97B7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5384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35422E-766A-958A-0014-ACC656CD7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30DA93-7CD4-396A-6BBB-29ACAE3B9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951" y="2398992"/>
            <a:ext cx="5183281" cy="4146624"/>
          </a:xfrm>
          <a:prstGeom prst="rect">
            <a:avLst/>
          </a:prstGeom>
        </p:spPr>
      </p:pic>
      <p:pic>
        <p:nvPicPr>
          <p:cNvPr id="2" name="그림 1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FF4C87-2E06-8D74-3D5E-E01BABA80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60" y="2514173"/>
            <a:ext cx="5183281" cy="403144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759276-24D4-7F00-78CB-4A328F504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5)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군집화 결과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(k = 2)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6BD2D54-6601-1B5B-0C3E-C2ADBE0D9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05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군집화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8DD17D-E900-382A-24E3-28C46E4CF169}"/>
              </a:ext>
            </a:extLst>
          </p:cNvPr>
          <p:cNvSpPr txBox="1"/>
          <p:nvPr/>
        </p:nvSpPr>
        <p:spPr>
          <a:xfrm>
            <a:off x="857560" y="1958774"/>
            <a:ext cx="42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(1)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기본 피처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임야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농경지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대지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공장용지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)</a:t>
            </a:r>
            <a:endParaRPr lang="ko-KR" altLang="en-US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5000AE-F85D-F4EA-4994-9992BABF07F4}"/>
              </a:ext>
            </a:extLst>
          </p:cNvPr>
          <p:cNvSpPr txBox="1"/>
          <p:nvPr/>
        </p:nvSpPr>
        <p:spPr>
          <a:xfrm>
            <a:off x="6388166" y="1958774"/>
            <a:ext cx="329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(2)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기본 피처 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+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도로율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</a:t>
            </a:r>
          </a:p>
        </p:txBody>
      </p:sp>
    </p:spTree>
    <p:extLst>
      <p:ext uri="{BB962C8B-B14F-4D97-AF65-F5344CB8AC3E}">
        <p14:creationId xmlns:p14="http://schemas.microsoft.com/office/powerpoint/2010/main" val="1530184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727B2A-A715-A6C4-51AB-11F3AD011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CB0635-008F-11A5-0020-C2F666DCA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789" y="2398991"/>
            <a:ext cx="5328752" cy="4144586"/>
          </a:xfrm>
          <a:prstGeom prst="rect">
            <a:avLst/>
          </a:prstGeom>
        </p:spPr>
      </p:pic>
      <p:pic>
        <p:nvPicPr>
          <p:cNvPr id="5" name="그림 4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D596ED-84A5-0D45-7E2D-75DC26F51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60" y="2398991"/>
            <a:ext cx="5331375" cy="414662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B3A48B-E9E0-9B2E-E152-36A9403C1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5)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군집화 결과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(k = 2)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35D0621-153C-B8B3-17C1-2C3D759D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05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군집화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15CD05-3329-8FD3-F31D-857B3CAFC2A9}"/>
              </a:ext>
            </a:extLst>
          </p:cNvPr>
          <p:cNvSpPr txBox="1"/>
          <p:nvPr/>
        </p:nvSpPr>
        <p:spPr>
          <a:xfrm>
            <a:off x="857560" y="1958774"/>
            <a:ext cx="347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(3)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토지 유형 관련 피처 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+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C5163-0A26-15CC-65C1-078763DCB84E}"/>
              </a:ext>
            </a:extLst>
          </p:cNvPr>
          <p:cNvSpPr txBox="1"/>
          <p:nvPr/>
        </p:nvSpPr>
        <p:spPr>
          <a:xfrm>
            <a:off x="6388166" y="1958774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(4)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모든 피처 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+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921001-586A-AA24-7400-C1C922EDF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985" y="192053"/>
            <a:ext cx="4989556" cy="133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r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* </a:t>
            </a:r>
            <a:r>
              <a:rPr lang="ko-KR" altLang="en-US" sz="11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토지 유형 관련 피처</a:t>
            </a:r>
            <a:endParaRPr lang="en-US" altLang="ko-KR" sz="1100" b="1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lvl="0" algn="r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공장용지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도로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철도용지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주차장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주유소용지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창고용지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학교용지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수도용지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</a:p>
          <a:p>
            <a:pPr lvl="0" algn="r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공원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체육용지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유원지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종교용지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잡종지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답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전 면적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과수원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목장용지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임야 면적(㎡)</a:t>
            </a:r>
          </a:p>
        </p:txBody>
      </p:sp>
    </p:spTree>
    <p:extLst>
      <p:ext uri="{BB962C8B-B14F-4D97-AF65-F5344CB8AC3E}">
        <p14:creationId xmlns:p14="http://schemas.microsoft.com/office/powerpoint/2010/main" val="2425277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45499-31C3-A0CF-E589-CBBE3CF6E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6740C7-EF05-9035-C074-BB86B1D02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953" y="2398992"/>
            <a:ext cx="5183276" cy="4146621"/>
          </a:xfrm>
          <a:prstGeom prst="rect">
            <a:avLst/>
          </a:prstGeom>
        </p:spPr>
      </p:pic>
      <p:pic>
        <p:nvPicPr>
          <p:cNvPr id="5" name="그림 4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D17F11-C5A5-D14A-8D60-4A4752700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60" y="2514172"/>
            <a:ext cx="5183281" cy="403144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9D6CC-812F-0CFA-95A4-C46362C88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6)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군집화 결과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(k = 4)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2CCA0EA-B7A9-7B3B-2384-61BC34268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05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군집화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EABC9-DC73-F844-A3B0-3EAA1474A67B}"/>
              </a:ext>
            </a:extLst>
          </p:cNvPr>
          <p:cNvSpPr txBox="1"/>
          <p:nvPr/>
        </p:nvSpPr>
        <p:spPr>
          <a:xfrm>
            <a:off x="857560" y="1958774"/>
            <a:ext cx="42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(1)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기본 피처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임야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농경지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대지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공장용지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)</a:t>
            </a:r>
            <a:endParaRPr lang="ko-KR" altLang="en-US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A7F38-E624-B0BE-B21C-AA393F71AAA7}"/>
              </a:ext>
            </a:extLst>
          </p:cNvPr>
          <p:cNvSpPr txBox="1"/>
          <p:nvPr/>
        </p:nvSpPr>
        <p:spPr>
          <a:xfrm>
            <a:off x="6388166" y="1958774"/>
            <a:ext cx="3292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(2)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기본 피처 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+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도로율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</a:t>
            </a:r>
          </a:p>
        </p:txBody>
      </p:sp>
    </p:spTree>
    <p:extLst>
      <p:ext uri="{BB962C8B-B14F-4D97-AF65-F5344CB8AC3E}">
        <p14:creationId xmlns:p14="http://schemas.microsoft.com/office/powerpoint/2010/main" val="7867902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CA8F30-4A09-65B7-12B1-527C2EE98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162DD4-CDE0-91A2-DD0F-1E486C7A4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679" y="2398991"/>
            <a:ext cx="5328753" cy="4144586"/>
          </a:xfrm>
          <a:prstGeom prst="rect">
            <a:avLst/>
          </a:prstGeom>
        </p:spPr>
      </p:pic>
      <p:pic>
        <p:nvPicPr>
          <p:cNvPr id="2" name="그림 1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3C07CC-6DFA-F43C-6F65-BA891F243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22" y="2398992"/>
            <a:ext cx="5328753" cy="4144586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4B3153-EB77-81DB-3B14-D942533D0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6)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군집화 결과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(k = 4)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B8FB943-9339-7A6F-9475-CC82AB9DB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05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군집화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4A138-7A39-6303-963A-0CE056254F84}"/>
              </a:ext>
            </a:extLst>
          </p:cNvPr>
          <p:cNvSpPr txBox="1"/>
          <p:nvPr/>
        </p:nvSpPr>
        <p:spPr>
          <a:xfrm>
            <a:off x="857560" y="1958774"/>
            <a:ext cx="347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(3)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토지 유형 관련 피처 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+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0D13CB-A44B-DC67-0AB8-DEBA334A1A00}"/>
              </a:ext>
            </a:extLst>
          </p:cNvPr>
          <p:cNvSpPr txBox="1"/>
          <p:nvPr/>
        </p:nvSpPr>
        <p:spPr>
          <a:xfrm>
            <a:off x="6388166" y="1958774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(4)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모든 피처 </a:t>
            </a:r>
            <a:r>
              <a:rPr lang="en-US" altLang="ko-KR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+ </a:t>
            </a:r>
            <a:r>
              <a:rPr lang="ko-KR" altLang="en-US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인구밀도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40BF41C-62F6-3C6C-22BE-74476EE09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985" y="192053"/>
            <a:ext cx="4989556" cy="133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r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* </a:t>
            </a:r>
            <a:r>
              <a:rPr lang="ko-KR" altLang="en-US" sz="1100" b="1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토지 유형 관련 피처</a:t>
            </a:r>
            <a:endParaRPr lang="en-US" altLang="ko-KR" sz="1100" b="1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lvl="0" algn="r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공장용지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도로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철도용지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주차장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주유소용지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창고용지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학교용지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수도용지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</a:p>
          <a:p>
            <a:pPr lvl="0" algn="r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공원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체육용지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유원지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종교용지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잡종지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답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전 면적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과수원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목장용지 면적(㎡)</a:t>
            </a:r>
            <a:r>
              <a:rPr lang="en-US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ko-KR" sz="11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임야 면적(㎡)</a:t>
            </a:r>
          </a:p>
        </p:txBody>
      </p:sp>
    </p:spTree>
    <p:extLst>
      <p:ext uri="{BB962C8B-B14F-4D97-AF65-F5344CB8AC3E}">
        <p14:creationId xmlns:p14="http://schemas.microsoft.com/office/powerpoint/2010/main" val="3728041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6BAB6-5E99-AC00-E125-AAB25F90C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C7326F-F804-1885-A4D6-BC53DCF7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1)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 특성 해석 방법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-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 중심값을 기반으로 </a:t>
            </a: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Softmax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확률 계산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-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각 군집에 대한 상대적 특성 강도를 확률로 표현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  -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 간 특성 비교 및 해석에 활용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99C2957-827B-15D7-3C0C-3CF0FFBD7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06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 특성 해석</a:t>
            </a:r>
          </a:p>
        </p:txBody>
      </p:sp>
      <p:pic>
        <p:nvPicPr>
          <p:cNvPr id="5" name="내용 개체 틀 5">
            <a:extLst>
              <a:ext uri="{FF2B5EF4-FFF2-40B4-BE49-F238E27FC236}">
                <a16:creationId xmlns:a16="http://schemas.microsoft.com/office/drawing/2014/main" id="{F0504328-42B1-ECE3-E084-2E7FFC438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609" y="2611146"/>
            <a:ext cx="5190842" cy="3662871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F9B792-BD8E-01A7-E2D2-CFEE0B630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90" y="3951734"/>
            <a:ext cx="5222409" cy="18286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17CD94-0147-7544-06F9-0678ECC9763A}"/>
              </a:ext>
            </a:extLst>
          </p:cNvPr>
          <p:cNvSpPr txBox="1"/>
          <p:nvPr/>
        </p:nvSpPr>
        <p:spPr>
          <a:xfrm>
            <a:off x="2340089" y="5935463"/>
            <a:ext cx="22894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Softmax </a:t>
            </a:r>
            <a:r>
              <a:rPr lang="ko-KR" altLang="en-US" sz="16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적용 코드 일부</a:t>
            </a:r>
          </a:p>
        </p:txBody>
      </p:sp>
    </p:spTree>
    <p:extLst>
      <p:ext uri="{BB962C8B-B14F-4D97-AF65-F5344CB8AC3E}">
        <p14:creationId xmlns:p14="http://schemas.microsoft.com/office/powerpoint/2010/main" val="5482524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8EF81-6E2A-DA44-1D83-A94B38CAC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E2FBAEE7-8F83-3E52-D5E2-D6AF5EE9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06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군집 특성 해석</a:t>
            </a:r>
          </a:p>
        </p:txBody>
      </p:sp>
      <p:pic>
        <p:nvPicPr>
          <p:cNvPr id="8" name="내용 개체 틀 25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DE5961-B2F6-C213-CF80-9B92C4E36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701" y="1943134"/>
            <a:ext cx="4648199" cy="2324100"/>
          </a:xfrm>
        </p:spPr>
      </p:pic>
      <p:pic>
        <p:nvPicPr>
          <p:cNvPr id="9" name="그림 8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42671D-A7ED-9B9E-4C7C-871E0929B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299" y="1943134"/>
            <a:ext cx="4648199" cy="2324100"/>
          </a:xfrm>
          <a:prstGeom prst="rect">
            <a:avLst/>
          </a:prstGeom>
        </p:spPr>
      </p:pic>
      <p:pic>
        <p:nvPicPr>
          <p:cNvPr id="10" name="그림 9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4CC572-2D7A-35B7-E811-75F386DCD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701" y="4420611"/>
            <a:ext cx="4648199" cy="2324100"/>
          </a:xfrm>
          <a:prstGeom prst="rect">
            <a:avLst/>
          </a:prstGeom>
        </p:spPr>
      </p:pic>
      <p:pic>
        <p:nvPicPr>
          <p:cNvPr id="11" name="그림 10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3B0977-2755-B8CB-0A34-E2E5D3E300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299" y="4420612"/>
            <a:ext cx="4648200" cy="2324100"/>
          </a:xfrm>
          <a:prstGeom prst="rect">
            <a:avLst/>
          </a:prstGeom>
        </p:spPr>
      </p:pic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B1C0910-9A63-B649-766D-515DA4EE6CD7}"/>
              </a:ext>
            </a:extLst>
          </p:cNvPr>
          <p:cNvSpPr txBox="1">
            <a:spLocks/>
          </p:cNvSpPr>
          <p:nvPr/>
        </p:nvSpPr>
        <p:spPr>
          <a:xfrm>
            <a:off x="654918" y="1337060"/>
            <a:ext cx="10882163" cy="4998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2)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군집 특성 해석 결과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57915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37A08-D371-3088-85AB-1B690879F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D4659262-1345-D5B7-7AF0-73DDBB2B9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07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최종 군집 결과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C8C2D3D-117D-E207-034E-C52937E7B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0"/>
            <a:ext cx="10882163" cy="4998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1) 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예상 결과</a:t>
            </a:r>
            <a:endParaRPr lang="en-US" altLang="ko-KR" sz="2000" dirty="0">
              <a:solidFill>
                <a:srgbClr val="3F5943"/>
              </a:solidFill>
              <a:latin typeface="KBO 다이아고딕 Medium" pitchFamily="2" charset="-127"/>
              <a:ea typeface="KBO 다이아고딕 Medium" pitchFamily="2" charset="-127"/>
            </a:endParaRPr>
          </a:p>
        </p:txBody>
      </p:sp>
      <p:pic>
        <p:nvPicPr>
          <p:cNvPr id="6" name="그림 5" descr="지도, 텍스트, 아틀라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1340F0-1152-7EBB-4F1E-6ED76CCE3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9"/>
          <a:stretch>
            <a:fillRect/>
          </a:stretch>
        </p:blipFill>
        <p:spPr>
          <a:xfrm>
            <a:off x="984437" y="1952625"/>
            <a:ext cx="4390931" cy="47133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42ECF6-0526-16FB-5709-03637DF21EFA}"/>
              </a:ext>
            </a:extLst>
          </p:cNvPr>
          <p:cNvSpPr txBox="1"/>
          <p:nvPr/>
        </p:nvSpPr>
        <p:spPr>
          <a:xfrm>
            <a:off x="6223187" y="1431895"/>
            <a:ext cx="1704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2)</a:t>
            </a:r>
            <a:r>
              <a:rPr lang="ko-KR" altLang="en-US" sz="20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군집화 결과</a:t>
            </a:r>
          </a:p>
        </p:txBody>
      </p:sp>
      <p:pic>
        <p:nvPicPr>
          <p:cNvPr id="9" name="그림 8" descr="지도, 텍스트, 아틀라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623E68-B9CA-B7D7-0349-5BAFCA6D3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81"/>
          <a:stretch>
            <a:fillRect/>
          </a:stretch>
        </p:blipFill>
        <p:spPr>
          <a:xfrm>
            <a:off x="6515099" y="1952625"/>
            <a:ext cx="4390931" cy="471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526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EF180-F716-8262-6F4A-AE18D370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477FE2A-2DF7-BE88-41D3-E535799E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40" y="192053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08 </a:t>
            </a:r>
            <a:r>
              <a:rPr lang="ko-KR" altLang="en-US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결론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B2F6425-A0C6-2FFD-E301-E68039DD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918" y="1337061"/>
            <a:ext cx="10882163" cy="492404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• K-Means(k=3)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결과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충북 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14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개 행정구역은 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3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개 유형으로 구분됨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-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도시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/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산업형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: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청주시 흥덕구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청주시 서원구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청주시 청원구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-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균형형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: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진천군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음성군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증평군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-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농업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/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산림형</a:t>
            </a:r>
            <a:r>
              <a:rPr lang="en-US" altLang="ko-KR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: </a:t>
            </a:r>
            <a:r>
              <a:rPr lang="ko-KR" altLang="en-US" sz="18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그 외 지역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•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청주시 흥덕구</a:t>
            </a: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서원구</a:t>
            </a: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청원구</a:t>
            </a: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증평군은 예상 분류와 일치함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•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일부 지역에서는 예상과 차이가 발생함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-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예상</a:t>
            </a: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: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청주시 상당구</a:t>
            </a: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진천군</a:t>
            </a: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음성군은 도시</a:t>
            </a: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/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산업형</a:t>
            </a: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충주시는 균형형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   -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결과</a:t>
            </a: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: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청주시 상당구</a:t>
            </a: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충주시는 농업</a:t>
            </a: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/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산림형</a:t>
            </a: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진천군</a:t>
            </a: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,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음성군은 균형형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• </a:t>
            </a:r>
            <a:r>
              <a:rPr lang="ko-KR" altLang="en-US" sz="1900" dirty="0">
                <a:solidFill>
                  <a:srgbClr val="3F5943"/>
                </a:solidFill>
                <a:latin typeface="KBO 다이아고딕 Medium" pitchFamily="2" charset="-127"/>
                <a:ea typeface="KBO 다이아고딕 Medium" pitchFamily="2" charset="-127"/>
              </a:rPr>
              <a:t>지적통계 기반 분석을 통해 직관적 예상과 다른 지역 특성이 확인됨</a:t>
            </a:r>
          </a:p>
        </p:txBody>
      </p:sp>
    </p:spTree>
    <p:extLst>
      <p:ext uri="{BB962C8B-B14F-4D97-AF65-F5344CB8AC3E}">
        <p14:creationId xmlns:p14="http://schemas.microsoft.com/office/powerpoint/2010/main" val="39427435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3EBE2B2-5409-385D-EEE6-5E2AB20D68F4}"/>
              </a:ext>
            </a:extLst>
          </p:cNvPr>
          <p:cNvSpPr txBox="1">
            <a:spLocks/>
          </p:cNvSpPr>
          <p:nvPr/>
        </p:nvSpPr>
        <p:spPr>
          <a:xfrm>
            <a:off x="1524000" y="1988457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8000" b="1" dirty="0">
                <a:solidFill>
                  <a:srgbClr val="3F5943"/>
                </a:solidFill>
                <a:latin typeface="KBO 다이아고딕 Bold" pitchFamily="2" charset="-127"/>
                <a:ea typeface="KBO 다이아고딕 Bold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47835820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1195</ep:Words>
  <ep:PresentationFormat>와이드스크린</ep:PresentationFormat>
  <ep:Paragraphs>212</ep:Paragraphs>
  <ep:Slides>37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ep:HeadingPairs>
  <ep:TitlesOfParts>
    <vt:vector size="38" baseType="lpstr">
      <vt:lpstr>Office 테마</vt:lpstr>
      <vt:lpstr>충청북도 토지 이용 분석 지적통계 기반 공간 특성 분석</vt:lpstr>
      <vt:lpstr>목차</vt:lpstr>
      <vt:lpstr>01 프로젝트 배경</vt:lpstr>
      <vt:lpstr>02 데이터 수집</vt:lpstr>
      <vt:lpstr>02 데이터 수집</vt:lpstr>
      <vt:lpstr>02 데이터 수집</vt:lpstr>
      <vt:lpstr>03 데이터 분석</vt:lpstr>
      <vt:lpstr>03 데이터 분석</vt:lpstr>
      <vt:lpstr>03 데이터 분석</vt:lpstr>
      <vt:lpstr>03 데이터 분석</vt:lpstr>
      <vt:lpstr>03 데이터 분석</vt:lpstr>
      <vt:lpstr>03 데이터 분석</vt:lpstr>
      <vt:lpstr>03 데이터 분석</vt:lpstr>
      <vt:lpstr>04 데이터 전처리</vt:lpstr>
      <vt:lpstr>04 데이터 전처리</vt:lpstr>
      <vt:lpstr>04 데이터 전처리</vt:lpstr>
      <vt:lpstr>04 데이터 전처리</vt:lpstr>
      <vt:lpstr>04 데이터 전처리</vt:lpstr>
      <vt:lpstr>04 데이터 전처리</vt:lpstr>
      <vt:lpstr>04 데이터 전처리</vt:lpstr>
      <vt:lpstr>05 군집화 분석</vt:lpstr>
      <vt:lpstr>05 군집화 분석</vt:lpstr>
      <vt:lpstr>05 군집화 분석</vt:lpstr>
      <vt:lpstr>05 군집화 분석</vt:lpstr>
      <vt:lpstr>05 군집화 분석</vt:lpstr>
      <vt:lpstr>05 군집화 분석</vt:lpstr>
      <vt:lpstr>05 군집화 분석</vt:lpstr>
      <vt:lpstr>05 군집화 분석</vt:lpstr>
      <vt:lpstr>05 군집화 분석</vt:lpstr>
      <vt:lpstr>05 군집화 분석</vt:lpstr>
      <vt:lpstr>05 군집화 분석</vt:lpstr>
      <vt:lpstr>05 군집화 분석</vt:lpstr>
      <vt:lpstr>06 군집 특성 해석</vt:lpstr>
      <vt:lpstr>06 군집 특성 해석</vt:lpstr>
      <vt:lpstr>07 최종 군집 결과</vt:lpstr>
      <vt:lpstr>08 결론</vt:lpstr>
      <vt:lpstr>슬라이드 37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2025-12-16T11:55:44.000</dcterms:created>
  <dc:creator>이대종</dc:creator>
  <cp:lastModifiedBy>khnam</cp:lastModifiedBy>
  <dcterms:modified xsi:type="dcterms:W3CDTF">2025-12-18T13:26:38.321</dcterms:modified>
  <cp:revision>197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
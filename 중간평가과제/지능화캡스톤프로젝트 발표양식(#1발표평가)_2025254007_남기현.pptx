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>
  <p:sldMasterIdLst>
    <p:sldMasterId id="2147483823" r:id="rId1"/>
    <p:sldMasterId id="2147483824" r:id="rId2"/>
  </p:sldMasterIdLst>
  <p:notesMasterIdLst>
    <p:notesMasterId r:id="rId3"/>
  </p:notesMasterIdLst>
  <p:handoutMasterIdLst>
    <p:handoutMasterId r:id="rId4"/>
  </p:handoutMasterIdLst>
  <p:sldIdLst>
    <p:sldId id="449" r:id="rId5"/>
    <p:sldId id="1017" r:id="rId6"/>
    <p:sldId id="1008" r:id="rId7"/>
    <p:sldId id="999" r:id="rId8"/>
    <p:sldId id="1014" r:id="rId9"/>
    <p:sldId id="1009" r:id="rId10"/>
    <p:sldId id="1010" r:id="rId11"/>
    <p:sldId id="1023" r:id="rId12"/>
    <p:sldId id="1024" r:id="rId13"/>
    <p:sldId id="1025" r:id="rId14"/>
    <p:sldId id="1011" r:id="rId15"/>
    <p:sldId id="1012" r:id="rId16"/>
    <p:sldId id="1016" r:id="rId17"/>
    <p:sldId id="1006" r:id="rId18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rgbClr val="00c0c0"/>
        </a:solidFill>
        <a:latin typeface="Arial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rgbClr val="00c0c0"/>
        </a:solidFill>
        <a:latin typeface="Arial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rgbClr val="00c0c0"/>
        </a:solidFill>
        <a:latin typeface="Arial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rgbClr val="00c0c0"/>
        </a:solidFill>
        <a:latin typeface="Arial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4CEE8726-F9F3-41AF-B5F6-E34B9A5B6B90}" name="기본 구역">
          <p14:sldIdLst>
            <p14:sldId id="449"/>
            <p14:sldId id="1017"/>
            <p14:sldId id="1008"/>
            <p14:sldId id="999"/>
            <p14:sldId id="1014"/>
            <p14:sldId id="1009"/>
            <p14:sldId id="1010"/>
            <p14:sldId id="1023"/>
            <p14:sldId id="1024"/>
            <p14:sldId id="1025"/>
            <p14:sldId id="1011"/>
            <p14:sldId id="1012"/>
            <p14:sldId id="1016"/>
            <p14:sldId id="1006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2259" autoAdjust="0"/>
    <p:restoredTop sz="92077" autoAdjust="0"/>
  </p:normalViewPr>
  <p:slideViewPr>
    <p:cSldViewPr>
      <p:cViewPr varScale="1">
        <p:scale>
          <a:sx n="100" d="100"/>
          <a:sy n="100" d="100"/>
        </p:scale>
        <p:origin x="1746" y="102"/>
      </p:cViewPr>
      <p:guideLst>
        <p:guide orient="horz" pos="2159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908" y="414"/>
      </p:cViewPr>
      <p:guideLst>
        <p:guide orient="horz" pos="3126"/>
        <p:guide pos="2140"/>
      </p:guideLst>
    </p:cSldViewPr>
  </p:notesViewPr>
  <p:gridSpacing cx="90001" cy="90001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6.xml"  /><Relationship Id="rId11" Type="http://schemas.openxmlformats.org/officeDocument/2006/relationships/slide" Target="slides/slide7.xml"  /><Relationship Id="rId12" Type="http://schemas.openxmlformats.org/officeDocument/2006/relationships/slide" Target="slides/slide8.xml"  /><Relationship Id="rId13" Type="http://schemas.openxmlformats.org/officeDocument/2006/relationships/slide" Target="slides/slide9.xml"  /><Relationship Id="rId14" Type="http://schemas.openxmlformats.org/officeDocument/2006/relationships/slide" Target="slides/slide10.xml"  /><Relationship Id="rId15" Type="http://schemas.openxmlformats.org/officeDocument/2006/relationships/slide" Target="slides/slide11.xml"  /><Relationship Id="rId16" Type="http://schemas.openxmlformats.org/officeDocument/2006/relationships/slide" Target="slides/slide12.xml"  /><Relationship Id="rId17" Type="http://schemas.openxmlformats.org/officeDocument/2006/relationships/slide" Target="slides/slide13.xml"  /><Relationship Id="rId18" Type="http://schemas.openxmlformats.org/officeDocument/2006/relationships/slide" Target="slides/slide14.xml"  /><Relationship Id="rId19" Type="http://schemas.openxmlformats.org/officeDocument/2006/relationships/presProps" Target="presProps.xml"  /><Relationship Id="rId2" Type="http://schemas.openxmlformats.org/officeDocument/2006/relationships/slideMaster" Target="slideMasters/slideMaster2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notesMaster" Target="notesMasters/notesMaster1.xml"  /><Relationship Id="rId4" Type="http://schemas.openxmlformats.org/officeDocument/2006/relationships/handoutMaster" Target="handoutMasters/handoutMaster1.xml"  /><Relationship Id="rId5" Type="http://schemas.openxmlformats.org/officeDocument/2006/relationships/slide" Target="slides/slide1.xml"  /><Relationship Id="rId6" Type="http://schemas.openxmlformats.org/officeDocument/2006/relationships/slide" Target="slides/slide2.xml"  /><Relationship Id="rId7" Type="http://schemas.openxmlformats.org/officeDocument/2006/relationships/slide" Target="slides/slide3.xml"  /><Relationship Id="rId8" Type="http://schemas.openxmlformats.org/officeDocument/2006/relationships/slide" Target="slides/slide4.xml"  /><Relationship Id="rId9" Type="http://schemas.openxmlformats.org/officeDocument/2006/relationships/slide" Target="slides/slide5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4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14" tIns="45857" rIns="91714" bIns="45857" anchor="t" anchorCtr="0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14" tIns="45857" rIns="91714" bIns="45857" anchor="t" anchorCtr="0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14" tIns="45857" rIns="91714" bIns="45857" anchor="b" anchorCtr="0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/>
            </a:pPr>
            <a:fld id="{324A1115-9F2D-4D68-85C5-5EC1194C2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14" tIns="45857" rIns="91714" bIns="45857" anchor="t" anchorCtr="0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14" tIns="45857" rIns="91714" bIns="45857" anchor="t" anchorCtr="0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  <a:effectLst/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5710"/>
            <a:ext cx="5435600" cy="44665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14" tIns="45857" rIns="91714" bIns="45857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Second level</a:t>
            </a:r>
            <a:endParaRPr lang="en-US" altLang="ko-KR"/>
          </a:p>
          <a:p>
            <a:pPr lvl="2">
              <a:defRPr/>
            </a:pPr>
            <a:r>
              <a:rPr lang="en-US" altLang="ko-KR"/>
              <a:t>Third level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Fourth level</a:t>
            </a:r>
            <a:endParaRPr lang="en-US" altLang="ko-KR"/>
          </a:p>
          <a:p>
            <a:pPr lvl="4">
              <a:defRPr/>
            </a:pPr>
            <a:r>
              <a:rPr lang="en-US" altLang="ko-KR"/>
              <a:t>Fifth level</a:t>
            </a:r>
            <a:endParaRPr lang="en-US" altLang="ko-KR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14" tIns="45857" rIns="91714" bIns="45857" anchor="b" anchorCtr="0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14" tIns="45857" rIns="91714" bIns="45857" anchor="b" anchorCtr="0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/>
            </a:pPr>
            <a:fld id="{BDE6D3F4-B44C-4D4D-B492-8788D90AD2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7CDBBC22-C944-46CC-B224-F57B82CD79F9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jpe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2.jpeg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jpeg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07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F254D-D485-4424-B9F6-B67A605DDF19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5376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310797-E8F0-33FF-3EAC-DF0D297E0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02B1F-C918-4EA9-8A71-4A69BA71DD78}" type="slidenum">
              <a:rPr lang="en-GB" altLang="ko-KR" smtClean="0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43135767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4F184-09B5-43E3-9B7A-CC3A5F5FC70F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1241096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95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037ABE-D605-7DC2-CD98-5957AE0F5873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1656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408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28934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982053"/>
      </p:ext>
    </p:extLst>
  </p:cSld>
  <p:clrMapOvr>
    <a:masterClrMapping/>
  </p:clrMapOvr>
  <p:transition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Relationship Id="rId7" Type="http://schemas.openxmlformats.org/officeDocument/2006/relationships/image" Target="../media/image3.png"  /><Relationship Id="rId8" Type="http://schemas.openxmlformats.org/officeDocument/2006/relationships/image" Target="../media/image4.png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slideLayout" Target="../slideLayouts/slideLayout7.xml"  /><Relationship Id="rId3" Type="http://schemas.openxmlformats.org/officeDocument/2006/relationships/slideLayout" Target="../slideLayouts/slideLayout8.xml"  /><Relationship Id="rId4" Type="http://schemas.openxmlformats.org/officeDocument/2006/relationships/slideLayout" Target="../slideLayouts/slideLayout9.xml"  /><Relationship Id="rId5" Type="http://schemas.openxmlformats.org/officeDocument/2006/relationships/slideLayout" Target="../slideLayouts/slideLayout10.xml"  /><Relationship Id="rId6" Type="http://schemas.openxmlformats.org/officeDocument/2006/relationships/theme" Target="../theme/theme2.xml"  /><Relationship Id="rId7" Type="http://schemas.openxmlformats.org/officeDocument/2006/relationships/image" Target="../media/image3.png"  /><Relationship Id="rId8" Type="http://schemas.openxmlformats.org/officeDocument/2006/relationships/image" Target="../media/image4.png"  /><Relationship Id="rId9" Type="http://schemas.openxmlformats.org/officeDocument/2006/relationships/image" Target="../media/image2.jpeg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19BEA91-710F-4DA2-A57A-92029721C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6054"/>
          <a:stretch/>
        </p:blipFill>
        <p:spPr>
          <a:xfrm>
            <a:off x="-1256" y="-3606"/>
            <a:ext cx="9144000" cy="792606"/>
          </a:xfrm>
          <a:prstGeom prst="rect">
            <a:avLst/>
          </a:prstGeom>
        </p:spPr>
      </p:pic>
      <p:sp>
        <p:nvSpPr>
          <p:cNvPr id="4137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116" y="6560298"/>
            <a:ext cx="117020" cy="1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7623" eaLnBrk="0" hangingPunct="0">
              <a:defRPr sz="738">
                <a:solidFill>
                  <a:srgbClr val="000000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4B02B1F-C918-4EA9-8A71-4A69BA71DD78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008097E2-E215-16CD-58E7-6BD749988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71" r:id="rId2"/>
    <p:sldLayoutId id="2147483772" r:id="rId3"/>
    <p:sldLayoutId id="2147483794" r:id="rId4"/>
    <p:sldLayoutId id="2147483773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8754-B9F3-D76F-38C3-B0091EEFC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</a:blip>
          <a:srcRect r="24209"/>
          <a:stretch/>
        </p:blipFill>
        <p:spPr>
          <a:xfrm>
            <a:off x="-1255" y="-3606"/>
            <a:ext cx="7376881" cy="792606"/>
          </a:xfrm>
          <a:custGeom>
            <a:avLst/>
            <a:gdLst>
              <a:gd name="connsiteX0" fmla="*/ 0 w 7376881"/>
              <a:gd name="connsiteY0" fmla="*/ 0 h 792606"/>
              <a:gd name="connsiteX1" fmla="*/ 7376881 w 7376881"/>
              <a:gd name="connsiteY1" fmla="*/ 0 h 792606"/>
              <a:gd name="connsiteX2" fmla="*/ 7335083 w 7376881"/>
              <a:gd name="connsiteY2" fmla="*/ 72101 h 792606"/>
              <a:gd name="connsiteX3" fmla="*/ 6478558 w 7376881"/>
              <a:gd name="connsiteY3" fmla="*/ 773769 h 792606"/>
              <a:gd name="connsiteX4" fmla="*/ 6439960 w 7376881"/>
              <a:gd name="connsiteY4" fmla="*/ 792606 h 792606"/>
              <a:gd name="connsiteX5" fmla="*/ 0 w 7376881"/>
              <a:gd name="connsiteY5" fmla="*/ 792606 h 792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76881" h="792606">
                <a:moveTo>
                  <a:pt x="0" y="0"/>
                </a:moveTo>
                <a:lnTo>
                  <a:pt x="7376881" y="0"/>
                </a:lnTo>
                <a:lnTo>
                  <a:pt x="7335083" y="72101"/>
                </a:lnTo>
                <a:cubicBezTo>
                  <a:pt x="7153136" y="331561"/>
                  <a:pt x="6859280" y="569153"/>
                  <a:pt x="6478558" y="773769"/>
                </a:cubicBezTo>
                <a:lnTo>
                  <a:pt x="6439960" y="792606"/>
                </a:lnTo>
                <a:lnTo>
                  <a:pt x="0" y="792606"/>
                </a:lnTo>
                <a:close/>
              </a:path>
            </a:pathLst>
          </a:custGeom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17EA2C-9563-3A9C-CD52-0AE019419479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B15DAD-E0C6-A00C-DFBE-C16F6DB1373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DD22-E678-EB87-D6D2-EB743F53AA76}"/>
              </a:ext>
            </a:extLst>
          </p:cNvPr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66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9.xml"  /><Relationship Id="rId2" Type="http://schemas.openxmlformats.org/officeDocument/2006/relationships/notesSlide" Target="../notesSlides/notesSlide1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193435"/>
            <a:ext cx="7110079" cy="87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프로젝트</a:t>
            </a:r>
            <a:r>
              <a:rPr lang="en-US" altLang="ko-KR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#1 </a:t>
            </a: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발표평가</a:t>
            </a:r>
            <a:endParaRPr lang="en-US" altLang="ko-KR" sz="4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DA4912B-7505-A2FB-FBB8-4DF4D2A23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963" y="4878004"/>
            <a:ext cx="6300072" cy="79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>
            <a:lvl1pPr marL="0" indent="0" algn="l" defTabSz="647700" rtl="0" eaLnBrk="0" fontAlgn="base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None/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4500" indent="-180975" algn="l" defTabSz="647700" rtl="0" eaLnBrk="0" fontAlgn="base" hangingPunct="0">
              <a:lnSpc>
                <a:spcPct val="105000"/>
              </a:lnSpc>
              <a:spcBef>
                <a:spcPct val="5000"/>
              </a:spcBef>
              <a:spcAft>
                <a:spcPct val="0"/>
              </a:spcAft>
              <a:buClr>
                <a:srgbClr val="F37121"/>
              </a:buClr>
              <a:buFont typeface="Arial Unicode MS" pitchFamily="50" charset="-127"/>
              <a:buChar char="–"/>
              <a:defRPr sz="1400">
                <a:solidFill>
                  <a:srgbClr val="000000"/>
                </a:solidFill>
                <a:latin typeface="+mn-lt"/>
              </a:defRPr>
            </a:lvl2pPr>
            <a:lvl3pPr marL="628650" indent="-182563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3pPr>
            <a:lvl4pPr marL="811213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Arial" pitchFamily="34" charset="0"/>
              <a:buChar char="-"/>
              <a:defRPr sz="1400">
                <a:solidFill>
                  <a:srgbClr val="000000"/>
                </a:solidFill>
                <a:latin typeface="+mn-lt"/>
              </a:defRPr>
            </a:lvl4pPr>
            <a:lvl5pPr marL="993775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5pPr>
            <a:lvl6pPr marL="14509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6pPr>
            <a:lvl7pPr marL="19081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7pPr>
            <a:lvl8pPr marL="23653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8pPr>
            <a:lvl9pPr marL="28225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9pPr>
          </a:lstStyle>
          <a:p>
            <a:pPr algn="ctr" eaLnBrk="1" hangingPunct="1"/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이름 </a:t>
            </a:r>
            <a:r>
              <a:rPr lang="en-US" altLang="ko-KR" b="0" dirty="0" err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ooo</a:t>
            </a:r>
            <a:endParaRPr lang="en-US" altLang="ko-KR" b="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/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ooo@cbnu.ac.kr, </a:t>
            </a:r>
          </a:p>
          <a:p>
            <a:pPr algn="ctr" eaLnBrk="1" hangingPunct="1"/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충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</a:rPr>
              <a:t>북대학교 산업인공지능연구센터</a:t>
            </a:r>
            <a:endParaRPr lang="en-US" altLang="ko-KR" b="0" dirty="0">
              <a:solidFill>
                <a:srgbClr val="002060"/>
              </a:solidFill>
              <a:latin typeface="맑은 고딕" pitchFamily="50" charset="-127"/>
            </a:endParaRPr>
          </a:p>
          <a:p>
            <a:pPr algn="ctr" eaLnBrk="1" hangingPunct="1"/>
            <a:endParaRPr lang="en-GB" altLang="ko-KR" b="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D12AAC-3E69-1D46-503B-5B89E4C8F6DA}"/>
              </a:ext>
            </a:extLst>
          </p:cNvPr>
          <p:cNvSpPr txBox="1"/>
          <p:nvPr/>
        </p:nvSpPr>
        <p:spPr>
          <a:xfrm>
            <a:off x="656956" y="3068996"/>
            <a:ext cx="7830088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딥러닝 기반 논문 리뷰</a:t>
            </a:r>
            <a:endParaRPr lang="en-US" altLang="ko-KR" sz="2400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571C43D-1094-CBC8-93A7-E64A401C7D9C}"/>
              </a:ext>
            </a:extLst>
          </p:cNvPr>
          <p:cNvSpPr/>
          <p:nvPr/>
        </p:nvSpPr>
        <p:spPr bwMode="auto">
          <a:xfrm>
            <a:off x="115260" y="102298"/>
            <a:ext cx="2678427" cy="270003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지능화캡스톤프로젝트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#1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발표평가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0E02-3417-9313-EC23-20CF483F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E1CE6F-76AD-000F-FC26-1ED75C8B7A1E}"/>
              </a:ext>
            </a:extLst>
          </p:cNvPr>
          <p:cNvSpPr/>
          <p:nvPr/>
        </p:nvSpPr>
        <p:spPr bwMode="auto">
          <a:xfrm>
            <a:off x="1007441" y="158376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44DB7F6-FF4D-9D0C-9F40-0FE318A46B04}"/>
              </a:ext>
            </a:extLst>
          </p:cNvPr>
          <p:cNvGrpSpPr/>
          <p:nvPr/>
        </p:nvGrpSpPr>
        <p:grpSpPr>
          <a:xfrm>
            <a:off x="684584" y="1494115"/>
            <a:ext cx="892810" cy="892810"/>
            <a:chOff x="611956" y="1268976"/>
            <a:chExt cx="772344" cy="7723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43373F4-2E7B-8903-8CE2-0B4727255424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원형: 비어 있음 9">
              <a:extLst>
                <a:ext uri="{FF2B5EF4-FFF2-40B4-BE49-F238E27FC236}">
                  <a16:creationId xmlns:a16="http://schemas.microsoft.com/office/drawing/2014/main" id="{2C433100-51C9-040F-E15D-ECEE4E91FD4B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63AB9A9-9021-5A6F-0EA2-F269AB9BFEEB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B832B4C-A785-B90A-53E1-EEB7FDBA694E}"/>
              </a:ext>
            </a:extLst>
          </p:cNvPr>
          <p:cNvSpPr/>
          <p:nvPr/>
        </p:nvSpPr>
        <p:spPr bwMode="auto">
          <a:xfrm>
            <a:off x="1007441" y="25131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906A9AF-C8CB-2CE4-1191-BDD34460B712}"/>
              </a:ext>
            </a:extLst>
          </p:cNvPr>
          <p:cNvGrpSpPr/>
          <p:nvPr/>
        </p:nvGrpSpPr>
        <p:grpSpPr>
          <a:xfrm>
            <a:off x="684584" y="2423474"/>
            <a:ext cx="892810" cy="892810"/>
            <a:chOff x="611956" y="1268976"/>
            <a:chExt cx="772344" cy="772344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B107DAFD-9A61-9215-2786-657BC8F93286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원형: 비어 있음 69">
              <a:extLst>
                <a:ext uri="{FF2B5EF4-FFF2-40B4-BE49-F238E27FC236}">
                  <a16:creationId xmlns:a16="http://schemas.microsoft.com/office/drawing/2014/main" id="{FE03CDB2-3657-1F6D-113B-0C30131481C2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1B02D9E-1E71-E7CE-557A-0A0E94437863}"/>
              </a:ext>
            </a:extLst>
          </p:cNvPr>
          <p:cNvSpPr/>
          <p:nvPr/>
        </p:nvSpPr>
        <p:spPr bwMode="auto">
          <a:xfrm>
            <a:off x="1007441" y="344248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D185EA5-580C-659B-0138-EC5E05E0FB39}"/>
              </a:ext>
            </a:extLst>
          </p:cNvPr>
          <p:cNvSpPr/>
          <p:nvPr/>
        </p:nvSpPr>
        <p:spPr bwMode="auto">
          <a:xfrm>
            <a:off x="684584" y="335283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원형: 비어 있음 74">
            <a:extLst>
              <a:ext uri="{FF2B5EF4-FFF2-40B4-BE49-F238E27FC236}">
                <a16:creationId xmlns:a16="http://schemas.microsoft.com/office/drawing/2014/main" id="{8F198A70-FC60-0877-B322-9360D1ACD8FD}"/>
              </a:ext>
            </a:extLst>
          </p:cNvPr>
          <p:cNvSpPr/>
          <p:nvPr/>
        </p:nvSpPr>
        <p:spPr bwMode="auto">
          <a:xfrm>
            <a:off x="718847" y="338709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1452986-DABC-30DA-C446-FB53EF55A64E}"/>
              </a:ext>
            </a:extLst>
          </p:cNvPr>
          <p:cNvSpPr/>
          <p:nvPr/>
        </p:nvSpPr>
        <p:spPr bwMode="auto">
          <a:xfrm>
            <a:off x="1007441" y="4371840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A01D40BA-86E6-050D-8ED4-8652281AA359}"/>
              </a:ext>
            </a:extLst>
          </p:cNvPr>
          <p:cNvSpPr/>
          <p:nvPr/>
        </p:nvSpPr>
        <p:spPr bwMode="auto">
          <a:xfrm>
            <a:off x="684584" y="4282192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원형: 비어 있음 79">
            <a:extLst>
              <a:ext uri="{FF2B5EF4-FFF2-40B4-BE49-F238E27FC236}">
                <a16:creationId xmlns:a16="http://schemas.microsoft.com/office/drawing/2014/main" id="{B4D7C20E-7284-6173-CF49-1DDE69650CE0}"/>
              </a:ext>
            </a:extLst>
          </p:cNvPr>
          <p:cNvSpPr/>
          <p:nvPr/>
        </p:nvSpPr>
        <p:spPr bwMode="auto">
          <a:xfrm>
            <a:off x="718847" y="4316455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BD59DEE-2319-7898-87A5-8370B2DBDCD8}"/>
              </a:ext>
            </a:extLst>
          </p:cNvPr>
          <p:cNvSpPr/>
          <p:nvPr/>
        </p:nvSpPr>
        <p:spPr bwMode="auto">
          <a:xfrm>
            <a:off x="1007441" y="530120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D1452B7-32FC-E53F-7ED7-9758B0E1F153}"/>
              </a:ext>
            </a:extLst>
          </p:cNvPr>
          <p:cNvSpPr/>
          <p:nvPr/>
        </p:nvSpPr>
        <p:spPr bwMode="auto">
          <a:xfrm>
            <a:off x="684584" y="521155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원형: 비어 있음 84">
            <a:extLst>
              <a:ext uri="{FF2B5EF4-FFF2-40B4-BE49-F238E27FC236}">
                <a16:creationId xmlns:a16="http://schemas.microsoft.com/office/drawing/2014/main" id="{157A5F63-566D-25E2-6244-A31A611B1811}"/>
              </a:ext>
            </a:extLst>
          </p:cNvPr>
          <p:cNvSpPr/>
          <p:nvPr/>
        </p:nvSpPr>
        <p:spPr bwMode="auto">
          <a:xfrm>
            <a:off x="718847" y="524581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3185146-9791-486D-69D7-EF78025638B0}"/>
              </a:ext>
            </a:extLst>
          </p:cNvPr>
          <p:cNvSpPr txBox="1"/>
          <p:nvPr/>
        </p:nvSpPr>
        <p:spPr>
          <a:xfrm>
            <a:off x="1891949" y="1597641"/>
            <a:ext cx="2082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#1 </a:t>
            </a:r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DB39E71-0A0A-BC03-2274-739250D53486}"/>
              </a:ext>
            </a:extLst>
          </p:cNvPr>
          <p:cNvSpPr txBox="1"/>
          <p:nvPr/>
        </p:nvSpPr>
        <p:spPr>
          <a:xfrm>
            <a:off x="1911844" y="1978237"/>
            <a:ext cx="5165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선정 논문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 구성원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업무분장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A7EBCB-10ED-0A4A-72EE-FBB93E6E90DA}"/>
              </a:ext>
            </a:extLst>
          </p:cNvPr>
          <p:cNvSpPr txBox="1"/>
          <p:nvPr/>
        </p:nvSpPr>
        <p:spPr>
          <a:xfrm>
            <a:off x="1891949" y="2533813"/>
            <a:ext cx="2383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서론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(Introduction)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AE6A570-1F99-2BE3-0F53-25CF4E465B3D}"/>
              </a:ext>
            </a:extLst>
          </p:cNvPr>
          <p:cNvSpPr txBox="1"/>
          <p:nvPr/>
        </p:nvSpPr>
        <p:spPr>
          <a:xfrm>
            <a:off x="1911844" y="2914409"/>
            <a:ext cx="292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배경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필요성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정의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D70BE0A-6F25-7259-EE57-2AA0793C797E}"/>
              </a:ext>
            </a:extLst>
          </p:cNvPr>
          <p:cNvSpPr txBox="1"/>
          <p:nvPr/>
        </p:nvSpPr>
        <p:spPr>
          <a:xfrm>
            <a:off x="1891949" y="3458906"/>
            <a:ext cx="5593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방법 및 구현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(Methodology &amp; Implementation)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CE7C25-4275-8625-A44C-C578BEA75030}"/>
              </a:ext>
            </a:extLst>
          </p:cNvPr>
          <p:cNvSpPr txBox="1"/>
          <p:nvPr/>
        </p:nvSpPr>
        <p:spPr>
          <a:xfrm>
            <a:off x="1911844" y="3839502"/>
            <a:ext cx="4188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리뷰 논문의 연구 방법론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구현 결과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코드 설명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등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EB72F57-4BB7-5D88-569B-2F3FC2196FE6}"/>
              </a:ext>
            </a:extLst>
          </p:cNvPr>
          <p:cNvSpPr txBox="1"/>
          <p:nvPr/>
        </p:nvSpPr>
        <p:spPr>
          <a:xfrm>
            <a:off x="1891949" y="4395078"/>
            <a:ext cx="5264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실험 구성 및 평가 방법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(Experiment Settings)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A24CC2-FBB0-32F4-F482-1EE9DCE1AD24}"/>
              </a:ext>
            </a:extLst>
          </p:cNvPr>
          <p:cNvSpPr txBox="1"/>
          <p:nvPr/>
        </p:nvSpPr>
        <p:spPr>
          <a:xfrm>
            <a:off x="1911844" y="4775674"/>
            <a:ext cx="4164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데이터셋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하이퍼파라미터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컴퓨팅 환경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평가지표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CD9292-7992-5B6A-A39D-3F6EF1859311}"/>
              </a:ext>
            </a:extLst>
          </p:cNvPr>
          <p:cNvSpPr txBox="1"/>
          <p:nvPr/>
        </p:nvSpPr>
        <p:spPr>
          <a:xfrm>
            <a:off x="1891949" y="5317626"/>
            <a:ext cx="3890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결과 및 분석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(Results &amp; Analysis)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63D5396-8747-F0DB-A672-B9552FEC6550}"/>
              </a:ext>
            </a:extLst>
          </p:cNvPr>
          <p:cNvSpPr txBox="1"/>
          <p:nvPr/>
        </p:nvSpPr>
        <p:spPr>
          <a:xfrm>
            <a:off x="1911844" y="5698222"/>
            <a:ext cx="4219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학습 결과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정확도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혼동행렬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비교 평가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결과 분석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6449DDCE-00F9-EE78-73DB-E3DB540E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80374368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0E02-3417-9313-EC23-20CF483F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63AB9A9-9021-5A6F-0EA2-F269AB9BFEEB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1452986-DABC-30DA-C446-FB53EF55A64E}"/>
              </a:ext>
            </a:extLst>
          </p:cNvPr>
          <p:cNvSpPr/>
          <p:nvPr/>
        </p:nvSpPr>
        <p:spPr bwMode="auto">
          <a:xfrm>
            <a:off x="1007441" y="17066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A01D40BA-86E6-050D-8ED4-8652281AA359}"/>
              </a:ext>
            </a:extLst>
          </p:cNvPr>
          <p:cNvSpPr/>
          <p:nvPr/>
        </p:nvSpPr>
        <p:spPr bwMode="auto">
          <a:xfrm>
            <a:off x="684584" y="1616974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원형: 비어 있음 79">
            <a:extLst>
              <a:ext uri="{FF2B5EF4-FFF2-40B4-BE49-F238E27FC236}">
                <a16:creationId xmlns:a16="http://schemas.microsoft.com/office/drawing/2014/main" id="{B4D7C20E-7284-6173-CF49-1DDE69650CE0}"/>
              </a:ext>
            </a:extLst>
          </p:cNvPr>
          <p:cNvSpPr/>
          <p:nvPr/>
        </p:nvSpPr>
        <p:spPr bwMode="auto">
          <a:xfrm>
            <a:off x="718847" y="1651237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BD59DEE-2319-7898-87A5-8370B2DBDCD8}"/>
              </a:ext>
            </a:extLst>
          </p:cNvPr>
          <p:cNvSpPr/>
          <p:nvPr/>
        </p:nvSpPr>
        <p:spPr bwMode="auto">
          <a:xfrm>
            <a:off x="1007441" y="263598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D1452B7-32FC-E53F-7ED7-9758B0E1F153}"/>
              </a:ext>
            </a:extLst>
          </p:cNvPr>
          <p:cNvSpPr/>
          <p:nvPr/>
        </p:nvSpPr>
        <p:spPr bwMode="auto">
          <a:xfrm>
            <a:off x="684584" y="2546335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원형: 비어 있음 84">
            <a:extLst>
              <a:ext uri="{FF2B5EF4-FFF2-40B4-BE49-F238E27FC236}">
                <a16:creationId xmlns:a16="http://schemas.microsoft.com/office/drawing/2014/main" id="{157A5F63-566D-25E2-6244-A31A611B1811}"/>
              </a:ext>
            </a:extLst>
          </p:cNvPr>
          <p:cNvSpPr/>
          <p:nvPr/>
        </p:nvSpPr>
        <p:spPr bwMode="auto">
          <a:xfrm>
            <a:off x="718847" y="2580598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EB72F57-4BB7-5D88-569B-2F3FC2196FE6}"/>
              </a:ext>
            </a:extLst>
          </p:cNvPr>
          <p:cNvSpPr txBox="1"/>
          <p:nvPr/>
        </p:nvSpPr>
        <p:spPr>
          <a:xfrm>
            <a:off x="1891949" y="1729860"/>
            <a:ext cx="4985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한계점 및 토론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(Limitations &amp; Discussions)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A24CC2-FBB0-32F4-F482-1EE9DCE1AD24}"/>
              </a:ext>
            </a:extLst>
          </p:cNvPr>
          <p:cNvSpPr txBox="1"/>
          <p:nvPr/>
        </p:nvSpPr>
        <p:spPr>
          <a:xfrm>
            <a:off x="1911844" y="2110456"/>
            <a:ext cx="4697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본 주제의 연구 방향에 있어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리뷰 논문의 한계점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등 논의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CD9292-7992-5B6A-A39D-3F6EF1859311}"/>
              </a:ext>
            </a:extLst>
          </p:cNvPr>
          <p:cNvSpPr txBox="1"/>
          <p:nvPr/>
        </p:nvSpPr>
        <p:spPr>
          <a:xfrm>
            <a:off x="1891949" y="2652408"/>
            <a:ext cx="1771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향후 연구 방안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63D5396-8747-F0DB-A672-B9552FEC6550}"/>
              </a:ext>
            </a:extLst>
          </p:cNvPr>
          <p:cNvSpPr txBox="1"/>
          <p:nvPr/>
        </p:nvSpPr>
        <p:spPr>
          <a:xfrm>
            <a:off x="1911844" y="3033004"/>
            <a:ext cx="41424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리뷰 논문의 개선 방안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본 주제로의 적용 방안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등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6449DDCE-00F9-EE78-73DB-E3DB540E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88845530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7B64757B-96D9-EFBA-0C96-626D20E9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8312034" cy="5182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목표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배경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및 필요성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배경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rgbClr val="0033CC"/>
                </a:solidFill>
                <a:latin typeface="+mn-ea"/>
              </a:rPr>
              <a:t>반도체 제조 공정에서 복합 불량(</a:t>
            </a:r>
            <a:r>
              <a:rPr lang="ko-KR" altLang="en-US" sz="1400" kern="0" dirty="0" err="1">
                <a:solidFill>
                  <a:srgbClr val="0033CC"/>
                </a:solidFill>
                <a:latin typeface="+mn-ea"/>
              </a:rPr>
              <a:t>Mixed-type</a:t>
            </a:r>
            <a:r>
              <a:rPr lang="ko-KR" altLang="en-US" sz="1400" kern="0" dirty="0">
                <a:solidFill>
                  <a:srgbClr val="0033CC"/>
                </a:solidFill>
                <a:latin typeface="+mn-ea"/>
              </a:rPr>
              <a:t> </a:t>
            </a:r>
            <a:r>
              <a:rPr lang="ko-KR" altLang="en-US" sz="1400" kern="0" dirty="0" err="1">
                <a:solidFill>
                  <a:srgbClr val="0033CC"/>
                </a:solidFill>
                <a:latin typeface="+mn-ea"/>
              </a:rPr>
              <a:t>Defect</a:t>
            </a:r>
            <a:r>
              <a:rPr lang="ko-KR" altLang="en-US" sz="1400" kern="0" dirty="0">
                <a:solidFill>
                  <a:srgbClr val="0033CC"/>
                </a:solidFill>
                <a:latin typeface="+mn-ea"/>
              </a:rPr>
              <a:t>) 자동 분류는 </a:t>
            </a:r>
            <a:r>
              <a:rPr lang="ko-KR" altLang="en-US" sz="1400" kern="0" dirty="0" err="1">
                <a:solidFill>
                  <a:srgbClr val="0033CC"/>
                </a:solidFill>
                <a:latin typeface="+mn-ea"/>
              </a:rPr>
              <a:t>수율</a:t>
            </a:r>
            <a:r>
              <a:rPr lang="ko-KR" altLang="en-US" sz="1400" kern="0" dirty="0">
                <a:solidFill>
                  <a:srgbClr val="0033CC"/>
                </a:solidFill>
                <a:latin typeface="+mn-ea"/>
              </a:rPr>
              <a:t> 향상과 생산 비용 절감의 핵심 기술임</a:t>
            </a:r>
            <a:endParaRPr lang="en-US" altLang="ko-KR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 err="1">
                <a:solidFill>
                  <a:srgbClr val="0033CC"/>
                </a:solidFill>
                <a:latin typeface="+mn-ea"/>
              </a:rPr>
              <a:t>Wang</a:t>
            </a:r>
            <a:r>
              <a:rPr lang="ko-KR" altLang="en-US" sz="1400" kern="0" dirty="0">
                <a:solidFill>
                  <a:srgbClr val="0033CC"/>
                </a:solidFill>
                <a:latin typeface="+mn-ea"/>
              </a:rPr>
              <a:t>(2020) DC-Net이 MixedWM38 최초 공개 및 복합 불량 분류를 시도했으나 93.20%의 낮은 성능과 4,000 </a:t>
            </a:r>
            <a:r>
              <a:rPr lang="ko-KR" altLang="en-US" sz="1400" kern="0" dirty="0" err="1">
                <a:solidFill>
                  <a:srgbClr val="0033CC"/>
                </a:solidFill>
                <a:latin typeface="+mn-ea"/>
              </a:rPr>
              <a:t>epoch의</a:t>
            </a:r>
            <a:r>
              <a:rPr lang="ko-KR" altLang="en-US" sz="1400" kern="0" dirty="0">
                <a:solidFill>
                  <a:srgbClr val="0033CC"/>
                </a:solidFill>
                <a:latin typeface="+mn-ea"/>
              </a:rPr>
              <a:t> 비효율적 학습이라는 한계가 존재함</a:t>
            </a:r>
            <a:br>
              <a:rPr lang="en-US" altLang="ko-KR" sz="14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</a:b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필요성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rgbClr val="0033CC"/>
                </a:solidFill>
                <a:latin typeface="+mn-ea"/>
              </a:rPr>
              <a:t>CNN 기반 딥러닝 모델은 복합 불량 패턴 분류에 효과적이나, 클래스 불균형 및 복잡한 패턴 인식 문제를 해결하기 위한 체계적 접근이 필요함</a:t>
            </a:r>
            <a:endParaRPr lang="en-US" altLang="ko-KR" kern="0" dirty="0">
              <a:solidFill>
                <a:srgbClr val="0033CC"/>
              </a:solidFill>
              <a:latin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rgbClr val="0033CC"/>
                </a:solidFill>
                <a:latin typeface="+mn-ea"/>
              </a:rPr>
              <a:t>MixedWM38은 실제 웨이퍼 공장에서 수집된 38,015장의 공개 데이터셋으로, </a:t>
            </a:r>
            <a:r>
              <a:rPr lang="ko-KR" altLang="en-US" sz="1400" kern="0" dirty="0" err="1">
                <a:solidFill>
                  <a:srgbClr val="0033CC"/>
                </a:solidFill>
                <a:latin typeface="+mn-ea"/>
              </a:rPr>
              <a:t>단일·복합</a:t>
            </a:r>
            <a:r>
              <a:rPr lang="ko-KR" altLang="en-US" sz="1400" kern="0" dirty="0">
                <a:solidFill>
                  <a:srgbClr val="0033CC"/>
                </a:solidFill>
                <a:latin typeface="+mn-ea"/>
              </a:rPr>
              <a:t> 불량 포함 38가지 패턴을 제공하여 실험 재현성이 높음</a:t>
            </a:r>
            <a:endParaRPr lang="en-US" altLang="ko-KR" sz="1400" kern="0" dirty="0">
              <a:solidFill>
                <a:srgbClr val="0033CC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94C633F-B60D-FEBA-ED2F-B3F10B03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</a:t>
            </a:r>
            <a:r>
              <a:rPr lang="en-US" altLang="ko-KR" dirty="0"/>
              <a:t>#1 </a:t>
            </a:r>
            <a:r>
              <a:rPr lang="ko-KR" altLang="en-US" dirty="0"/>
              <a:t>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6A8B6B-70B6-9BA1-A6F4-9C37D6172746}"/>
              </a:ext>
            </a:extLst>
          </p:cNvPr>
          <p:cNvSpPr/>
          <p:nvPr/>
        </p:nvSpPr>
        <p:spPr bwMode="auto">
          <a:xfrm>
            <a:off x="748275" y="1578798"/>
            <a:ext cx="7650085" cy="536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sz="1600" dirty="0">
                <a:solidFill>
                  <a:srgbClr val="0033CC"/>
                </a:solidFill>
                <a:latin typeface="Arial" charset="0"/>
              </a:rPr>
              <a:t>CNN 기반 웨이퍼 복합 불량 패턴 분류 모델 구현 및 성능 분석</a:t>
            </a:r>
            <a:endParaRPr lang="en-US" altLang="ko-KR" sz="1600" dirty="0">
              <a:solidFill>
                <a:srgbClr val="0033CC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89474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A5F2-7333-2989-E46D-29A50FA3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0F5F631E-60A0-8C05-A9CF-FE833ECC8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8312034" cy="32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선정 논문</a:t>
            </a:r>
            <a:endParaRPr lang="en-US" altLang="ko-KR" kern="0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25FF8C-6426-1564-3CD2-9A95BB71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</a:t>
            </a:r>
            <a:r>
              <a:rPr lang="en-US" altLang="ko-KR" dirty="0"/>
              <a:t>#1 </a:t>
            </a:r>
            <a:r>
              <a:rPr lang="ko-KR" altLang="en-US" dirty="0"/>
              <a:t>개요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B8F3DBF-004E-4701-0AE5-0DCDC650A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368993"/>
              </p:ext>
            </p:extLst>
          </p:nvPr>
        </p:nvGraphicFramePr>
        <p:xfrm>
          <a:off x="557814" y="1564144"/>
          <a:ext cx="8100090" cy="17170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8719">
                  <a:extLst>
                    <a:ext uri="{9D8B030D-6E8A-4147-A177-3AD203B41FA5}">
                      <a16:colId xmlns:a16="http://schemas.microsoft.com/office/drawing/2014/main" val="4170148597"/>
                    </a:ext>
                  </a:extLst>
                </a:gridCol>
                <a:gridCol w="6251371">
                  <a:extLst>
                    <a:ext uri="{9D8B030D-6E8A-4147-A177-3AD203B41FA5}">
                      <a16:colId xmlns:a16="http://schemas.microsoft.com/office/drawing/2014/main" val="974918593"/>
                    </a:ext>
                  </a:extLst>
                </a:gridCol>
              </a:tblGrid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논문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Deformable Convolutional Networks for Efficient</a:t>
                      </a:r>
                    </a:p>
                    <a:p>
                      <a:pPr algn="l"/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Mixed-Type Wafer Defect Pattern Recognition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87363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출판사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저널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IEEE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Transactions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Semiconductor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Manufacturing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(2020, Vol.33)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저널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112152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IF/JCR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IF: 2.9 / JCR Q2 (Electrical Engineering)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311154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인용횟수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300+ (Google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Scholar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기준, 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723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4311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0D13-A7F8-4502-DD65-20B577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ADA9890-26D2-8E29-0383-8BD35A607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E800F3-E48B-C1FF-262C-90F4501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(Introduction)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2BD63-0905-59EC-F650-346CACF8E06F}"/>
              </a:ext>
            </a:extLst>
          </p:cNvPr>
          <p:cNvSpPr txBox="1"/>
          <p:nvPr/>
        </p:nvSpPr>
        <p:spPr>
          <a:xfrm>
            <a:off x="400013" y="1802786"/>
            <a:ext cx="8042032" cy="4538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연구 배경</a:t>
            </a: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반도체 웨이퍼 제조 공정에서 복합 불량(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Mixed-type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Defect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) 자동 분류는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수율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향상의 핵심 과제임.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Wang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et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al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.(2020)이 MixedWM38 데이터셋을 최초 공개하고 DC-Net을 제안하였으나 93.20%의 낮은 성능이 한계로 지적됨.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endParaRPr lang="ko-KR" altLang="en-US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DC-Net의 4가지 한계점</a:t>
            </a: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① 낮은 성능: 93.20%로 후속 연구 대비 낮음 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② 학습 비효율: 4,800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iteration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필요 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③ 복합도 증가 시 성능 급락: 단일 96.80% → 2개 복합 92.12% → 4개 복합 더욱 하락 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④ 설명 불가: 모델 판단 근거 시각화 없음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endParaRPr lang="ko-KR" altLang="en-US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연구 목표</a:t>
            </a: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① DC-Net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PyTorch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재현으로 성능 검증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② CNN+CBAM 단독 실험으로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Attention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효과 확인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③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DC-Net+CBAM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결합으로 최고 성능 98.26% 달성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④ 향후 졸업논문에서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Grad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-CAM 시각화 및 복합 불량 조합별 분석으로 발전</a:t>
            </a:r>
          </a:p>
        </p:txBody>
      </p:sp>
    </p:spTree>
    <p:extLst>
      <p:ext uri="{BB962C8B-B14F-4D97-AF65-F5344CB8AC3E}">
        <p14:creationId xmlns:p14="http://schemas.microsoft.com/office/powerpoint/2010/main" val="415759455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8FE2521-1511-BE8B-7D1E-2CC84840E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49515-D6E4-3AE9-CF37-C16DCC1C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방법 </a:t>
            </a:r>
            <a:r>
              <a:rPr lang="en-US" altLang="ko-KR" dirty="0"/>
              <a:t>(Methodology)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FBE06-A1D2-49D6-798A-C5A387898007}"/>
              </a:ext>
            </a:extLst>
          </p:cNvPr>
          <p:cNvSpPr txBox="1"/>
          <p:nvPr/>
        </p:nvSpPr>
        <p:spPr>
          <a:xfrm>
            <a:off x="400012" y="1797699"/>
            <a:ext cx="8743988" cy="3091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DC-Net 핵심: </a:t>
            </a:r>
            <a:r>
              <a:rPr lang="ko-KR" altLang="en-US" sz="1400" b="1" dirty="0" err="1">
                <a:solidFill>
                  <a:schemeClr val="tx1"/>
                </a:solidFill>
                <a:latin typeface="Arial" charset="0"/>
              </a:rPr>
              <a:t>Deformable</a:t>
            </a: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1" dirty="0" err="1">
                <a:solidFill>
                  <a:schemeClr val="tx1"/>
                </a:solidFill>
                <a:latin typeface="Arial" charset="0"/>
              </a:rPr>
              <a:t>Convolution</a:t>
            </a:r>
            <a:endParaRPr lang="ko-KR" altLang="en-US" sz="1400" b="1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일반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CNN은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고정된 격자 위치에서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합성곱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수행 → 불규칙한 불량 패턴 인식 한계. DC-Net은 학습 가능한 오프셋으로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합성곱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위치를 유동적으로 변형하여 불규칙 패턴을 효과적으로 포착함.</a:t>
            </a: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endParaRPr lang="en-US" altLang="ko-KR" sz="1400" b="1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CBAM: </a:t>
            </a:r>
            <a:r>
              <a:rPr lang="ko-KR" altLang="en-US" sz="1400" b="1" dirty="0" err="1">
                <a:solidFill>
                  <a:schemeClr val="tx1"/>
                </a:solidFill>
                <a:latin typeface="Arial" charset="0"/>
              </a:rPr>
              <a:t>Channel</a:t>
            </a: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 + </a:t>
            </a:r>
            <a:r>
              <a:rPr lang="ko-KR" altLang="en-US" sz="1400" b="1" dirty="0" err="1">
                <a:solidFill>
                  <a:schemeClr val="tx1"/>
                </a:solidFill>
                <a:latin typeface="Arial" charset="0"/>
              </a:rPr>
              <a:t>Spatial</a:t>
            </a: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1" dirty="0" err="1">
                <a:solidFill>
                  <a:schemeClr val="tx1"/>
                </a:solidFill>
                <a:latin typeface="Arial" charset="0"/>
              </a:rPr>
              <a:t>Attention</a:t>
            </a:r>
            <a:endParaRPr lang="ko-KR" altLang="en-US" sz="1400" b="1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Channel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Attention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: 어떤 특징 채널이 중요한가 학습 (불량 관련 채널 강조) →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Spatial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Attention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: 이미지의 어느 위치가 중요한가 학습 (불량 영역 집중). 두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Attention을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순차 적용하여 특징 추출 능력 강화.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endParaRPr lang="ko-KR" altLang="en-US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DC-Net + CBAM 결합 구조 (우리 제안)</a:t>
            </a: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입력(52×52) → [Module1: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NormalConv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(32,5×5)] → CBAM → [Module2~4: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NormalConv+DeformableConv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(64→128)] → CBAM → FC(128) → FC(8) →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Sigmoid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(8차원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멀티레이블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출력)</a:t>
            </a:r>
          </a:p>
        </p:txBody>
      </p:sp>
    </p:spTree>
    <p:extLst>
      <p:ext uri="{BB962C8B-B14F-4D97-AF65-F5344CB8AC3E}">
        <p14:creationId xmlns:p14="http://schemas.microsoft.com/office/powerpoint/2010/main" val="40590110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5D187-3DF4-4082-B87E-8B946E704D5F}"/>
              </a:ext>
            </a:extLst>
          </p:cNvPr>
          <p:cNvSpPr txBox="1"/>
          <p:nvPr/>
        </p:nvSpPr>
        <p:spPr>
          <a:xfrm>
            <a:off x="400012" y="1802786"/>
            <a:ext cx="8042031" cy="420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데이터셋: MixedWM38</a:t>
            </a: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총 38,015장 / 52×52 픽셀 / 38종 패턴(정상 1+단일 8+복합 29) /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Train:Val:Test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= 8:1:1 /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GAN으로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클래스 균형 맞춤 /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Kaggle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공개 데이터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endParaRPr lang="ko-KR" altLang="en-US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실험 환경</a:t>
            </a: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Framework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PyTorch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/ GPU: NVIDIA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GeForce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GTX 1070 (8GB) / CUDA 12.6 / OS: Windows 11 /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Python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3.x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endParaRPr lang="ko-KR" altLang="en-US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</a:t>
            </a:r>
            <a:r>
              <a:rPr lang="ko-KR" altLang="en-US" sz="1400" b="1" dirty="0" err="1">
                <a:solidFill>
                  <a:schemeClr val="tx1"/>
                </a:solidFill>
                <a:latin typeface="Arial" charset="0"/>
              </a:rPr>
              <a:t>하이퍼파라미터</a:t>
            </a:r>
            <a:endParaRPr lang="ko-KR" altLang="en-US" sz="1400" b="1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Optimizer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Adam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/ LR: 0.001 /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Batch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Size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: 64 /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Epochs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: 30 /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Loss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Binary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Cross-Entropy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/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Scheduler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CosineAnnealing</a:t>
            </a:r>
            <a:endParaRPr lang="en-US" altLang="ko-KR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endParaRPr lang="ko-KR" altLang="en-US" sz="1400" b="0" dirty="0">
              <a:solidFill>
                <a:schemeClr val="tx1"/>
              </a:solidFill>
              <a:latin typeface="Arial" charset="0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Arial" charset="0"/>
              </a:rPr>
              <a:t>▶ 평가지표</a:t>
            </a: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</a:pP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Exact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Match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Accuracy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: 8개 레이블 모두 정확히 맞춰야 정답 / </a:t>
            </a:r>
            <a:r>
              <a:rPr lang="ko-KR" altLang="en-US" sz="1400" b="0" dirty="0" err="1">
                <a:solidFill>
                  <a:schemeClr val="tx1"/>
                </a:solidFill>
                <a:latin typeface="Arial" charset="0"/>
              </a:rPr>
              <a:t>Macro</a:t>
            </a:r>
            <a:r>
              <a:rPr lang="ko-KR" altLang="en-US" sz="1400" b="0" dirty="0">
                <a:solidFill>
                  <a:schemeClr val="tx1"/>
                </a:solidFill>
                <a:latin typeface="Arial" charset="0"/>
              </a:rPr>
              <a:t> F1-Score: 클래스 불균형 고려한 평균 성능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294061"/>
      </p:ext>
    </p:extLst>
  </p:cSld>
  <p:clrMapOvr>
    <a:masterClrMapping/>
  </p:clrMapOvr>
  <p:transition/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n"/>
              <a:defRPr sz="1600" b="1">
                <a:solidFill>
                  <a:srgbClr val="000000"/>
                </a:solidFill>
                <a:latin typeface="Corbel"/>
                <a:ea typeface="맑은 고딕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/>
              <a:buChar char="√"/>
              <a:defRPr sz="1400">
                <a:solidFill>
                  <a:srgbClr val="000000"/>
                </a:solidFill>
                <a:latin typeface="Corbel"/>
                <a:ea typeface="맑은 고딕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/>
              <a:buChar char="•"/>
              <a:defRPr sz="1200">
                <a:solidFill>
                  <a:srgbClr val="000000"/>
                </a:solidFill>
                <a:latin typeface="Corbel"/>
                <a:ea typeface="맑은 고딕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/>
              <a:buChar char="-"/>
              <a:defRPr sz="1200">
                <a:solidFill>
                  <a:srgbClr val="000000"/>
                </a:solidFill>
                <a:latin typeface="Corbel"/>
                <a:ea typeface="맑은 고딕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맑은 고딕"/>
                <a:ea typeface="맑은 고딕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결과</a:t>
            </a:r>
            <a:r>
              <a:rPr lang="en-US" altLang="ko-KR"/>
              <a:t> </a:t>
            </a:r>
            <a:r>
              <a:rPr lang="ko-KR" altLang="en-US"/>
              <a:t>및 분석 </a:t>
            </a:r>
            <a:r>
              <a:rPr lang="en-US" altLang="ko-KR"/>
              <a:t>(Results &amp; Analysis)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00012" y="1426474"/>
            <a:ext cx="8743988" cy="4286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▶ 모델별 성능 비교 (MixedWM38 기준)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DC-Net 원논문: 93.20% / CNN+CBAM: 96.87% (+3.67%p)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DC-Net 재현: 98.13% (+4.93%p) / DC-Net+CBAM(최종): 98.26% (+5.06%p)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▶ 38개 패턴별 상세 분석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단일(C1-C9): 96.8%→98.4% (+1.6%p)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2개 복합: 95.1%→98.3% (+3.1%p)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3개 복합: 89.7%→97.9% (+8.2%p)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4개 복합: 88.0%→97.4% (+9.3%p)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복합도 높을수록 CBAM 효과 증대 (최대 +10.9%p)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▶ 핵심 분석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① DC-Net 재현(98.13%) &gt; CNN+CBAM(96.87%) → Deformable Conv가 웨이퍼 불규칙 패턴에 더 효과적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② DC-Net+CBAM(98.26%) 최고 성능 → 두 기술 결합으로 시너지 효과 달성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▶ 프레임워크 차이 분석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원논문(TensorFlow, 4,800 iter): 93.20%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재현(PyTorch, 30 epoch): 98.13% → PyTorch 최적화로 동일 구조에서 성능 향상 증명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n"/>
              <a:defRPr sz="1600" b="1">
                <a:solidFill>
                  <a:srgbClr val="000000"/>
                </a:solidFill>
                <a:latin typeface="Corbel"/>
                <a:ea typeface="맑은 고딕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/>
              <a:buChar char="√"/>
              <a:defRPr sz="1400">
                <a:solidFill>
                  <a:srgbClr val="000000"/>
                </a:solidFill>
                <a:latin typeface="Corbel"/>
                <a:ea typeface="맑은 고딕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/>
              <a:buChar char="•"/>
              <a:defRPr sz="1200">
                <a:solidFill>
                  <a:srgbClr val="000000"/>
                </a:solidFill>
                <a:latin typeface="Corbel"/>
                <a:ea typeface="맑은 고딕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/>
              <a:buChar char="-"/>
              <a:defRPr sz="1200">
                <a:solidFill>
                  <a:srgbClr val="000000"/>
                </a:solidFill>
                <a:latin typeface="Corbel"/>
                <a:ea typeface="맑은 고딕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맑은 고딕"/>
                <a:ea typeface="맑은 고딕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결과</a:t>
            </a:r>
            <a:r>
              <a:rPr lang="en-US" altLang="ko-KR"/>
              <a:t> </a:t>
            </a:r>
            <a:r>
              <a:rPr lang="ko-KR" altLang="en-US"/>
              <a:t>및 분석 </a:t>
            </a:r>
            <a:r>
              <a:rPr lang="en-US" altLang="ko-KR"/>
              <a:t>(Results &amp; Analysis)</a:t>
            </a: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76472" y="1464708"/>
            <a:ext cx="6475559" cy="48566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n"/>
              <a:defRPr sz="1600" b="1">
                <a:solidFill>
                  <a:srgbClr val="000000"/>
                </a:solidFill>
                <a:latin typeface="Corbel"/>
                <a:ea typeface="맑은 고딕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/>
              <a:buChar char="√"/>
              <a:defRPr sz="1400">
                <a:solidFill>
                  <a:srgbClr val="000000"/>
                </a:solidFill>
                <a:latin typeface="Corbel"/>
                <a:ea typeface="맑은 고딕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/>
              <a:buChar char="•"/>
              <a:defRPr sz="1200">
                <a:solidFill>
                  <a:srgbClr val="000000"/>
                </a:solidFill>
                <a:latin typeface="Corbel"/>
                <a:ea typeface="맑은 고딕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/>
              <a:buChar char="-"/>
              <a:defRPr sz="1200">
                <a:solidFill>
                  <a:srgbClr val="000000"/>
                </a:solidFill>
                <a:latin typeface="Corbel"/>
                <a:ea typeface="맑은 고딕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맑은 고딕"/>
                <a:ea typeface="맑은 고딕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한계점</a:t>
            </a:r>
            <a:r>
              <a:rPr lang="en-US" altLang="ko-KR"/>
              <a:t> </a:t>
            </a:r>
            <a:r>
              <a:rPr lang="ko-KR" altLang="en-US"/>
              <a:t>및 토론 </a:t>
            </a:r>
            <a:r>
              <a:rPr lang="en-US" altLang="ko-KR"/>
              <a:t>(Limitations &amp; Discussions)</a:t>
            </a:r>
            <a:endParaRPr lang="ko-KR" altLang="en-US"/>
          </a:p>
        </p:txBody>
      </p:sp>
      <p:sp>
        <p:nvSpPr>
          <p:cNvPr id="9" name="TextBox 4"/>
          <p:cNvSpPr txBox="1"/>
          <p:nvPr/>
        </p:nvSpPr>
        <p:spPr>
          <a:xfrm>
            <a:off x="400012" y="1611067"/>
            <a:ext cx="8492036" cy="471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1">
                <a:solidFill>
                  <a:schemeClr val="tx1"/>
                </a:solidFill>
                <a:latin typeface="맑은 고딕"/>
                <a:ea typeface="맑은 고딕"/>
              </a:rPr>
              <a:t>▶ 원논문 한계점</a:t>
            </a:r>
            <a:endParaRPr lang="ko-KR" altLang="en-US" sz="1400" b="1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맑은 고딕"/>
                <a:ea typeface="맑은 고딕"/>
              </a:rPr>
              <a:t>① 낮은 성능: 전체 평균 93.20%, Scratch(C8) Precision 60%로 낮음</a:t>
            </a:r>
            <a:endParaRPr lang="ko-KR" altLang="en-US" sz="1400" b="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맑은 고딕"/>
                <a:ea typeface="맑은 고딕"/>
              </a:rPr>
              <a:t>복합도 증가 시 성능 급락 (단일 96.80% → 2개 복합 92.12% → 4개 복합 더욱 하락)</a:t>
            </a:r>
            <a:endParaRPr lang="ko-KR" altLang="en-US" sz="1400" b="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맑은 고딕"/>
                <a:ea typeface="맑은 고딕"/>
              </a:rPr>
              <a:t>② 학습 비효율: 수렴을 위해 4,800 iteration 필요. 동일 데이터를 수천 번 반복 학습하는 비효율적 구조</a:t>
            </a:r>
            <a:endParaRPr lang="ko-KR" altLang="en-US" sz="1400" b="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맑은 고딕"/>
                <a:ea typeface="맑은 고딕"/>
              </a:rPr>
              <a:t>③ </a:t>
            </a:r>
            <a:r>
              <a:rPr lang="ko-KR" altLang="en-US" sz="1400" b="0">
                <a:solidFill>
                  <a:schemeClr val="tx1"/>
                </a:solidFill>
                <a:latin typeface="Arial"/>
              </a:rPr>
              <a:t>시각화 한계: Deformable Conv 오프셋 기반 관심 영역 시각화 제공(Fig.13)하였으나 Grad-CAM 같은 표준 XAI 기법이 아니어서 타 모델과 비교 및 일반화가 어려움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④ 불량 근본 원인 미연계: 논문 Conclusion에서 향후 불량 근본 원인 탐지 및 추론 연구 필요 명시. 분류 결과와 공정 원인 간 연계 분석이 미완성</a:t>
            </a:r>
            <a:endParaRPr lang="ko-KR" altLang="en-US" sz="1400" b="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endParaRPr lang="ko-KR" altLang="en-US" sz="1400" b="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1">
                <a:solidFill>
                  <a:schemeClr val="tx1"/>
                </a:solidFill>
                <a:latin typeface="맑은 고딕"/>
                <a:ea typeface="맑은 고딕"/>
              </a:rPr>
              <a:t>▶ 개선 방향</a:t>
            </a:r>
            <a:endParaRPr lang="ko-KR" altLang="en-US" sz="1400" b="1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① 성능 개선: CBAM Attention 추가 → DC-Net+CBAM 98.26% 달성 (+5.06%p). Channel/Spatial Attention이 복합 불량 패턴 인식에 효과적임을 실험으로 증명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② 학습 효율화: PyTorch + CosineAnnealing으로 30 epoch만에 수렴. 원논문 4,800 iteration 대비 대폭 단축하면서 더 높은 성능 달성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③ XAI 표준화: 향후 Grad-CAM 적용으로 표준 방식의 불량 영역 시각화 제공 → 산업 현장 활용성 향상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ko-KR" altLang="en-US" sz="1400" b="0">
                <a:solidFill>
                  <a:schemeClr val="tx1"/>
                </a:solidFill>
                <a:latin typeface="Arial"/>
              </a:rPr>
              <a:t>④ 근본 원인 연계: 복합 불량 조합별 난이도 분석을 통해 어떤 공정 이상이 어떤 불량 패턴을 유발하는지 연구로 발전</a:t>
            </a:r>
            <a:endParaRPr lang="ko-KR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n"/>
              <a:defRPr sz="1600" b="1">
                <a:solidFill>
                  <a:srgbClr val="000000"/>
                </a:solidFill>
                <a:latin typeface="Corbel"/>
                <a:ea typeface="맑은 고딕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/>
              <a:buChar char="√"/>
              <a:defRPr sz="1400">
                <a:solidFill>
                  <a:srgbClr val="000000"/>
                </a:solidFill>
                <a:latin typeface="Corbel"/>
                <a:ea typeface="맑은 고딕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/>
              <a:buChar char="•"/>
              <a:defRPr sz="1200">
                <a:solidFill>
                  <a:srgbClr val="000000"/>
                </a:solidFill>
                <a:latin typeface="Corbel"/>
                <a:ea typeface="맑은 고딕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/>
              <a:buChar char="-"/>
              <a:defRPr sz="1200">
                <a:solidFill>
                  <a:srgbClr val="000000"/>
                </a:solidFill>
                <a:latin typeface="Corbel"/>
                <a:ea typeface="맑은 고딕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맑은 고딕"/>
                <a:ea typeface="맑은 고딕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향후 연구 방향</a:t>
            </a:r>
            <a:endParaRPr lang="ko-KR" altLang="en-US"/>
          </a:p>
        </p:txBody>
      </p:sp>
      <p:sp>
        <p:nvSpPr>
          <p:cNvPr id="8" name="TextBox 4"/>
          <p:cNvSpPr txBox="1"/>
          <p:nvPr/>
        </p:nvSpPr>
        <p:spPr>
          <a:xfrm>
            <a:off x="400012" y="1611067"/>
            <a:ext cx="8042031" cy="141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en-US" altLang="ko-KR" sz="1400" b="0">
                <a:solidFill>
                  <a:schemeClr val="tx1"/>
                </a:solidFill>
                <a:latin typeface="Arial"/>
              </a:rPr>
              <a:t>-</a:t>
            </a:r>
            <a:r>
              <a:rPr lang="ko-KR" altLang="en-US" sz="1400" b="0">
                <a:solidFill>
                  <a:schemeClr val="tx1"/>
                </a:solidFill>
                <a:latin typeface="Arial"/>
              </a:rPr>
              <a:t> Grad-CAM 시각화: DC-Net+CBAM 모델에 Grad-CAM을 적용하여 모델이 어떤 불량 영역을 근거로 판단하는지 시각화. 표준화된 XAI 분석으로 엔지니어 신뢰도 향상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en-US" altLang="ko-KR" sz="1400" b="0">
                <a:solidFill>
                  <a:schemeClr val="tx1"/>
                </a:solidFill>
                <a:latin typeface="Arial"/>
              </a:rPr>
              <a:t>-</a:t>
            </a:r>
            <a:r>
              <a:rPr lang="ko-KR" altLang="en-US" sz="1400" b="0">
                <a:solidFill>
                  <a:schemeClr val="tx1"/>
                </a:solidFill>
                <a:latin typeface="Arial"/>
              </a:rPr>
              <a:t> 복합 불량 조합별 난이도 분석: 2개/3개/4개 복합 불량 29종 중 어떤 조합이 분류하기 어려운지 규명. 어려운 패턴의 공정 원인 분석으로 제조 공정 개선에 기여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  <a:p>
            <a:pPr marL="0" indent="0" algn="l" defTabSz="914400">
              <a:lnSpc>
                <a:spcPct val="120000"/>
              </a:lnSpc>
              <a:spcBef>
                <a:spcPts val="200"/>
              </a:spcBef>
              <a:buNone/>
              <a:defRPr/>
            </a:pPr>
            <a:r>
              <a:rPr lang="en-US" altLang="ko-KR" sz="1400" b="0">
                <a:solidFill>
                  <a:schemeClr val="tx1"/>
                </a:solidFill>
                <a:latin typeface="Arial"/>
              </a:rPr>
              <a:t>-</a:t>
            </a:r>
            <a:r>
              <a:rPr lang="ko-KR" altLang="en-US" sz="1400" b="0">
                <a:solidFill>
                  <a:schemeClr val="tx1"/>
                </a:solidFill>
                <a:latin typeface="Arial"/>
              </a:rPr>
              <a:t> MobileNet 기반 경량화 모델 설계로 DC-Net+CBAM 대비 파라미터 수 및 추론 속도 비교 분석</a:t>
            </a:r>
            <a:endParaRPr lang="ko-KR" altLang="en-US" sz="1400" b="0"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7D46-C139-9199-B45A-7A777DE9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37717338-6C73-0DAB-541E-C2131D16D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3" y="1088974"/>
            <a:ext cx="8312034" cy="3696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0" indent="0" defTabSz="914400">
              <a:lnSpc>
                <a:spcPct val="130000"/>
              </a:lnSpc>
              <a:buNone/>
            </a:pP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[1]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Wang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,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J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et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al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(2020).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Deformable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Convolutional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Networks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for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Efficient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Mixed-Type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Wafer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Defect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Pattern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Recognition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IEEE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Trans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Semicond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Manuf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., 33(4), 587-596. [SCIE, IF 2.9]</a:t>
            </a:r>
          </a:p>
          <a:p>
            <a:pPr marL="0" indent="0" defTabSz="914400">
              <a:lnSpc>
                <a:spcPct val="130000"/>
              </a:lnSpc>
              <a:buNone/>
            </a:pP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[2]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Kyeong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, K., &amp; Kim,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H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(2018).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Classification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of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Mixed-Type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Defect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Patterns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in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Wafer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Bin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Maps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Using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CNN. IEEE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Trans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Semicond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Manuf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., 31(3), 395-402.</a:t>
            </a:r>
          </a:p>
          <a:p>
            <a:pPr marL="0" indent="0" defTabSz="914400">
              <a:lnSpc>
                <a:spcPct val="130000"/>
              </a:lnSpc>
              <a:buNone/>
            </a:pP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[3]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Deng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,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G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., &amp;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Wang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,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H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(2024).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Efficient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Mixed-Type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Wafer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Defect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Pattern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Recognition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Based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on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Light-Weight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Neural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Network.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Micromachines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, 15(7), 836.</a:t>
            </a:r>
          </a:p>
          <a:p>
            <a:pPr marL="0" indent="0" defTabSz="914400">
              <a:lnSpc>
                <a:spcPct val="130000"/>
              </a:lnSpc>
              <a:buNone/>
            </a:pP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[4]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Nakazawa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,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T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., &amp;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Kulkarni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,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D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V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(2019).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Anomaly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Detection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and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Segmentation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for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Wafer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Defect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Patterns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IEEE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Trans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Semicond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 </a:t>
            </a:r>
            <a:r>
              <a:rPr lang="ko-KR" altLang="en-US" b="0" dirty="0" err="1">
                <a:solidFill>
                  <a:srgbClr val="1F3864"/>
                </a:solidFill>
                <a:latin typeface="Arial" charset="0"/>
              </a:rPr>
              <a:t>Manuf</a:t>
            </a:r>
            <a:r>
              <a:rPr lang="ko-KR" altLang="en-US" b="0" dirty="0">
                <a:solidFill>
                  <a:srgbClr val="1F3864"/>
                </a:solidFill>
                <a:latin typeface="Arial" charset="0"/>
              </a:rPr>
              <a:t>., 32(2), 250-256.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098DF2-0FED-0E54-CAA4-04A96F7E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5AC4CE-8F67-C793-8C6F-211D7896CA2A}"/>
              </a:ext>
            </a:extLst>
          </p:cNvPr>
          <p:cNvSpPr/>
          <p:nvPr/>
        </p:nvSpPr>
        <p:spPr bwMode="auto">
          <a:xfrm>
            <a:off x="6196583" y="104264"/>
            <a:ext cx="2811653" cy="7200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참고문헌 변경 및 작성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!</a:t>
            </a: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03631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078985"/>
            <a:ext cx="7110079" cy="2133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감사합니다</a:t>
            </a:r>
            <a:endParaRPr lang="en-US" altLang="ko-KR" sz="5400" b="1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Q&amp;A</a:t>
            </a:r>
            <a:endParaRPr lang="ko-KR" altLang="en-US" sz="5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3233912"/>
      </p:ext>
    </p:extLst>
  </p:cSld>
  <p:clrMapOvr>
    <a:masterClrMapping/>
  </p:clrMapOvr>
  <p:transition/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1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800" b="0" i="0" u="none" strike="noStrike" cap="none" normalizeH="0" baseline="0" smtClean="0">
            <a:solidFill>
              <a:srgbClr val="00c0c0"/>
            </a:solidFill>
            <a:effectLst/>
            <a:latin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800" b="0" i="0" u="none" strike="noStrike" cap="none" normalizeH="0" baseline="0" smtClean="0">
            <a:solidFill>
              <a:srgbClr val="00c0c0"/>
            </a:solidFill>
            <a:effectLst/>
            <a:latin typeface="Arial"/>
          </a:defRPr>
        </a:defPPr>
      </a:lst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2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800" b="0" i="0" u="none" strike="noStrike" cap="none" normalizeH="0" baseline="0" smtClean="0">
            <a:solidFill>
              <a:srgbClr val="00c0c0"/>
            </a:solidFill>
            <a:effectLst/>
            <a:latin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800" b="0" i="0" u="none" strike="noStrike" cap="none" normalizeH="0" baseline="0" smtClean="0">
            <a:solidFill>
              <a:srgbClr val="00c0c0"/>
            </a:solidFill>
            <a:effectLst/>
            <a:latin typeface="Arial"/>
          </a:defRPr>
        </a:defPPr>
      </a:lstStyle>
    </a:lnDef>
    <a:txDef>
      <a:spPr/>
      <a:bodyPr/>
      <a:lstStyle/>
    </a:txDef>
  </a:objectDefaul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956</ep:Words>
  <ep:PresentationFormat>화면 슬라이드 쇼(4:3)</ep:PresentationFormat>
  <ep:Paragraphs>118</ep:Paragraphs>
  <ep:Slides>14</ep:Slides>
  <ep:Notes>12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ep:HeadingPairs>
  <ep:TitlesOfParts>
    <vt:vector size="16" baseType="lpstr">
      <vt:lpstr>1_Default Design</vt:lpstr>
      <vt:lpstr>2_Default Design</vt:lpstr>
      <vt:lpstr>슬라이드 1</vt:lpstr>
      <vt:lpstr>목차</vt:lpstr>
      <vt:lpstr>목차</vt:lpstr>
      <vt:lpstr>프로젝트 #1 개요</vt:lpstr>
      <vt:lpstr>프로젝트 #1 개요</vt:lpstr>
      <vt:lpstr>서론 (Introduction)</vt:lpstr>
      <vt:lpstr>방법 (Methodology)</vt:lpstr>
      <vt:lpstr>실험 구성 및 평가 방법 (Experiment Settings)</vt:lpstr>
      <vt:lpstr>결과 및 분석 (Results &amp; Analysis)</vt:lpstr>
      <vt:lpstr>결과 및 분석 (Results &amp; Analysis)</vt:lpstr>
      <vt:lpstr>한계점 및 토론 (Limitations &amp; Discussions)</vt:lpstr>
      <vt:lpstr>향후 연구 방향</vt:lpstr>
      <vt:lpstr>참고 문헌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2004-08-18T11:28:05.000</dcterms:created>
  <dc:creator>이광연</dc:creator>
  <cp:lastModifiedBy>khnam</cp:lastModifiedBy>
  <dcterms:modified xsi:type="dcterms:W3CDTF">2026-05-03T05:29:21.034</dcterms:modified>
  <cp:revision>3150</cp:revision>
  <dc:title>Slide 1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